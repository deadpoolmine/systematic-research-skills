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8" r:id="rId2"/>
    <p:sldId id="259" r:id="rId3"/>
    <p:sldId id="257" r:id="rId4"/>
    <p:sldId id="260" r:id="rId5"/>
    <p:sldId id="261" r:id="rId6"/>
    <p:sldId id="263" r:id="rId7"/>
    <p:sldId id="256" r:id="rId8"/>
  </p:sldIdLst>
  <p:sldSz cx="3203575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" id="{2211FF89-F4F7-4F85-98BC-1FDDDD1E3247}">
          <p14:sldIdLst>
            <p14:sldId id="258"/>
            <p14:sldId id="259"/>
          </p14:sldIdLst>
        </p14:section>
        <p14:section name="Overview" id="{D1477775-A631-49AA-B05C-A740331E83F3}">
          <p14:sldIdLst>
            <p14:sldId id="257"/>
            <p14:sldId id="260"/>
            <p14:sldId id="261"/>
            <p14:sldId id="263"/>
          </p14:sldIdLst>
        </p14:section>
        <p14:section name="Garbage" id="{8715FA26-9C31-4A05-AECF-E7994C52232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E7E6E6"/>
    <a:srgbClr val="FFC0C0"/>
    <a:srgbClr val="1D5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5244" autoAdjust="0"/>
  </p:normalViewPr>
  <p:slideViewPr>
    <p:cSldViewPr snapToGrid="0">
      <p:cViewPr>
        <p:scale>
          <a:sx n="200" d="100"/>
          <a:sy n="200" d="100"/>
        </p:scale>
        <p:origin x="1910" y="93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A1E06-A763-4C6F-ABD2-83C22A9FCFFF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175" y="1143000"/>
            <a:ext cx="6864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6ECDD-6063-4619-9F3B-9EF97576C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70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6ECDD-6063-4619-9F3B-9EF97576CD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84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447" y="235644"/>
            <a:ext cx="2402681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447" y="756262"/>
            <a:ext cx="2402681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60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01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" y="358966"/>
            <a:ext cx="276308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577" y="963575"/>
            <a:ext cx="276308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3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246" y="383297"/>
            <a:ext cx="1361519" cy="9135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1810" y="383297"/>
            <a:ext cx="1361519" cy="9135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36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76659"/>
            <a:ext cx="2763083" cy="27830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3" y="352967"/>
            <a:ext cx="1355262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663" y="525950"/>
            <a:ext cx="1355262" cy="773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1810" y="352967"/>
            <a:ext cx="1361937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1810" y="525950"/>
            <a:ext cx="1361937" cy="773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76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14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2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95991"/>
            <a:ext cx="103323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937" y="207314"/>
            <a:ext cx="1621810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431959"/>
            <a:ext cx="103323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16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95991"/>
            <a:ext cx="103323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1937" y="207314"/>
            <a:ext cx="1621810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431959"/>
            <a:ext cx="103323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52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59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2558" y="76660"/>
            <a:ext cx="690771" cy="12202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246" y="76660"/>
            <a:ext cx="2032268" cy="12202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35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246" y="76659"/>
            <a:ext cx="276308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246" y="383297"/>
            <a:ext cx="276308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246" y="1334540"/>
            <a:ext cx="72080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61DE5-151A-478D-9D95-790DAAE9B65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1184" y="1334540"/>
            <a:ext cx="108120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2525" y="1334540"/>
            <a:ext cx="72080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22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8107F6F5-46CB-F080-81E8-5ACABBAB79D0}"/>
              </a:ext>
            </a:extLst>
          </p:cNvPr>
          <p:cNvGrpSpPr/>
          <p:nvPr/>
        </p:nvGrpSpPr>
        <p:grpSpPr>
          <a:xfrm>
            <a:off x="-51027" y="-59765"/>
            <a:ext cx="3254602" cy="1559391"/>
            <a:chOff x="-54148" y="-86787"/>
            <a:chExt cx="3254602" cy="155939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E52FDB62-FB31-64A8-68F5-7DBD81CFBBD9}"/>
                </a:ext>
              </a:extLst>
            </p:cNvPr>
            <p:cNvSpPr/>
            <p:nvPr/>
          </p:nvSpPr>
          <p:spPr>
            <a:xfrm>
              <a:off x="782019" y="112236"/>
              <a:ext cx="746104" cy="1186974"/>
            </a:xfrm>
            <a:prstGeom prst="roundRect">
              <a:avLst>
                <a:gd name="adj" fmla="val 7783"/>
              </a:avLst>
            </a:prstGeom>
            <a:noFill/>
            <a:ln w="6350">
              <a:solidFill>
                <a:schemeClr val="tx1"/>
              </a:solidFill>
              <a:prstDash val="dash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059A336-4164-A436-F435-EF6FD2B581CF}"/>
                </a:ext>
              </a:extLst>
            </p:cNvPr>
            <p:cNvSpPr/>
            <p:nvPr/>
          </p:nvSpPr>
          <p:spPr>
            <a:xfrm>
              <a:off x="869117" y="758286"/>
              <a:ext cx="559995" cy="136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③ </a:t>
              </a:r>
              <a:r>
                <a:rPr lang="en-US" altLang="zh-CN" sz="700">
                  <a:solidFill>
                    <a:schemeClr val="tx1"/>
                  </a:solidFill>
                </a:rPr>
                <a:t>FP:PBN:REF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780E2DB-600E-CB25-C22C-FB075BCD813D}"/>
                </a:ext>
              </a:extLst>
            </p:cNvPr>
            <p:cNvSpPr/>
            <p:nvPr/>
          </p:nvSpPr>
          <p:spPr>
            <a:xfrm>
              <a:off x="869117" y="1039899"/>
              <a:ext cx="559995" cy="136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④ </a:t>
              </a:r>
              <a:r>
                <a:rPr lang="en-US" altLang="zh-CN" sz="700">
                  <a:solidFill>
                    <a:schemeClr val="tx1"/>
                  </a:solidFill>
                </a:rPr>
                <a:t>LBN:PBN 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69569D6-55CD-117C-90EA-FD5A8E9F0FC6}"/>
                </a:ext>
              </a:extLst>
            </p:cNvPr>
            <p:cNvSpPr/>
            <p:nvPr/>
          </p:nvSpPr>
          <p:spPr>
            <a:xfrm>
              <a:off x="869117" y="195062"/>
              <a:ext cx="559995" cy="136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① </a:t>
              </a:r>
              <a:r>
                <a:rPr lang="en-US" altLang="zh-CN" sz="700" dirty="0">
                  <a:solidFill>
                    <a:schemeClr val="tx1"/>
                  </a:solidFill>
                </a:rPr>
                <a:t>Allocate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C6719CE-3F68-C8BD-0F4D-A1E6ECF2BBB7}"/>
                </a:ext>
              </a:extLst>
            </p:cNvPr>
            <p:cNvSpPr/>
            <p:nvPr/>
          </p:nvSpPr>
          <p:spPr>
            <a:xfrm>
              <a:off x="869117" y="476674"/>
              <a:ext cx="559995" cy="136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② </a:t>
              </a:r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DDABB44-B1DF-965F-0D61-89DB4B93E726}"/>
                </a:ext>
              </a:extLst>
            </p:cNvPr>
            <p:cNvSpPr/>
            <p:nvPr/>
          </p:nvSpPr>
          <p:spPr>
            <a:xfrm>
              <a:off x="1711239" y="758286"/>
              <a:ext cx="559995" cy="136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③ </a:t>
              </a:r>
              <a:r>
                <a:rPr lang="en-US" altLang="zh-CN" sz="700" dirty="0">
                  <a:solidFill>
                    <a:schemeClr val="tx1"/>
                  </a:solidFill>
                </a:rPr>
                <a:t>FP:PBN:REF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65F6B336-8F87-8410-C6B4-5E5E1D04E5DB}"/>
                </a:ext>
              </a:extLst>
            </p:cNvPr>
            <p:cNvSpPr/>
            <p:nvPr/>
          </p:nvSpPr>
          <p:spPr>
            <a:xfrm>
              <a:off x="1711239" y="1039899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④ </a:t>
              </a:r>
              <a:r>
                <a:rPr lang="en-US" altLang="zh-CN" sz="700" dirty="0">
                  <a:solidFill>
                    <a:schemeClr val="tx1"/>
                  </a:solidFill>
                </a:rPr>
                <a:t>LBN:PBN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B01F95A-DDD6-C1D8-D181-E1DDDA40E13C}"/>
                </a:ext>
              </a:extLst>
            </p:cNvPr>
            <p:cNvSpPr/>
            <p:nvPr/>
          </p:nvSpPr>
          <p:spPr>
            <a:xfrm>
              <a:off x="1711239" y="195062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① </a:t>
              </a:r>
              <a:r>
                <a:rPr lang="en-US" altLang="zh-CN" sz="700" dirty="0">
                  <a:solidFill>
                    <a:schemeClr val="tx1"/>
                  </a:solidFill>
                </a:rPr>
                <a:t>Allocate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9610C49-964C-750F-E08F-BF757BC6782D}"/>
                </a:ext>
              </a:extLst>
            </p:cNvPr>
            <p:cNvSpPr/>
            <p:nvPr/>
          </p:nvSpPr>
          <p:spPr>
            <a:xfrm>
              <a:off x="1711239" y="476674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② </a:t>
              </a:r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4FAAE2E-7466-BA73-4316-3CBC8EF0DBCC}"/>
                </a:ext>
              </a:extLst>
            </p:cNvPr>
            <p:cNvSpPr/>
            <p:nvPr/>
          </p:nvSpPr>
          <p:spPr>
            <a:xfrm>
              <a:off x="2541492" y="903298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③ </a:t>
              </a:r>
              <a:r>
                <a:rPr lang="en-US" altLang="zh-CN" sz="700" dirty="0">
                  <a:solidFill>
                    <a:schemeClr val="tx1"/>
                  </a:solidFill>
                </a:rPr>
                <a:t>LBN:FP:PBN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A1BA66D-CE53-FD5B-A8A3-1D0FC1DAD036}"/>
                </a:ext>
              </a:extLst>
            </p:cNvPr>
            <p:cNvSpPr/>
            <p:nvPr/>
          </p:nvSpPr>
          <p:spPr>
            <a:xfrm>
              <a:off x="2541492" y="340305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① </a:t>
              </a:r>
              <a:r>
                <a:rPr lang="en-US" altLang="zh-CN" sz="700" dirty="0">
                  <a:solidFill>
                    <a:schemeClr val="tx1"/>
                  </a:solidFill>
                </a:rPr>
                <a:t>Allocate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0D1EA37-061C-CB3A-A5D5-E6395042196A}"/>
                </a:ext>
              </a:extLst>
            </p:cNvPr>
            <p:cNvSpPr/>
            <p:nvPr/>
          </p:nvSpPr>
          <p:spPr>
            <a:xfrm>
              <a:off x="2541492" y="621917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② </a:t>
              </a:r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74" name="箭头: 下 73">
              <a:extLst>
                <a:ext uri="{FF2B5EF4-FFF2-40B4-BE49-F238E27FC236}">
                  <a16:creationId xmlns:a16="http://schemas.microsoft.com/office/drawing/2014/main" id="{E81EABE2-28E1-EDEE-32DD-76D63EBF56F4}"/>
                </a:ext>
              </a:extLst>
            </p:cNvPr>
            <p:cNvSpPr/>
            <p:nvPr/>
          </p:nvSpPr>
          <p:spPr>
            <a:xfrm>
              <a:off x="1059254" y="362695"/>
              <a:ext cx="191633" cy="82947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75" name="箭头: 下 74">
              <a:extLst>
                <a:ext uri="{FF2B5EF4-FFF2-40B4-BE49-F238E27FC236}">
                  <a16:creationId xmlns:a16="http://schemas.microsoft.com/office/drawing/2014/main" id="{42EF96E6-40F8-25F3-063C-40D50279ADCC}"/>
                </a:ext>
              </a:extLst>
            </p:cNvPr>
            <p:cNvSpPr/>
            <p:nvPr/>
          </p:nvSpPr>
          <p:spPr>
            <a:xfrm>
              <a:off x="1059254" y="644307"/>
              <a:ext cx="191633" cy="82947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76" name="箭头: 下 75">
              <a:extLst>
                <a:ext uri="{FF2B5EF4-FFF2-40B4-BE49-F238E27FC236}">
                  <a16:creationId xmlns:a16="http://schemas.microsoft.com/office/drawing/2014/main" id="{7261DBB0-7F1E-F285-AF60-8EFBB6A03436}"/>
                </a:ext>
              </a:extLst>
            </p:cNvPr>
            <p:cNvSpPr/>
            <p:nvPr/>
          </p:nvSpPr>
          <p:spPr>
            <a:xfrm>
              <a:off x="1059342" y="930076"/>
              <a:ext cx="191633" cy="82947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83" name="箭头: 下 82">
              <a:extLst>
                <a:ext uri="{FF2B5EF4-FFF2-40B4-BE49-F238E27FC236}">
                  <a16:creationId xmlns:a16="http://schemas.microsoft.com/office/drawing/2014/main" id="{31A6592D-7C7F-0BF4-1330-F7F9E067BE29}"/>
                </a:ext>
              </a:extLst>
            </p:cNvPr>
            <p:cNvSpPr/>
            <p:nvPr/>
          </p:nvSpPr>
          <p:spPr>
            <a:xfrm>
              <a:off x="1901332" y="362695"/>
              <a:ext cx="191633" cy="82947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84" name="箭头: 下 83">
              <a:extLst>
                <a:ext uri="{FF2B5EF4-FFF2-40B4-BE49-F238E27FC236}">
                  <a16:creationId xmlns:a16="http://schemas.microsoft.com/office/drawing/2014/main" id="{BC4A565F-071F-BAE3-9390-53E045AC9671}"/>
                </a:ext>
              </a:extLst>
            </p:cNvPr>
            <p:cNvSpPr/>
            <p:nvPr/>
          </p:nvSpPr>
          <p:spPr>
            <a:xfrm>
              <a:off x="1901332" y="644307"/>
              <a:ext cx="191633" cy="82947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85" name="箭头: 下 84">
              <a:extLst>
                <a:ext uri="{FF2B5EF4-FFF2-40B4-BE49-F238E27FC236}">
                  <a16:creationId xmlns:a16="http://schemas.microsoft.com/office/drawing/2014/main" id="{EA629D1A-A17C-BB18-1583-5F88BDADC6CC}"/>
                </a:ext>
              </a:extLst>
            </p:cNvPr>
            <p:cNvSpPr/>
            <p:nvPr/>
          </p:nvSpPr>
          <p:spPr>
            <a:xfrm>
              <a:off x="1901419" y="930076"/>
              <a:ext cx="191633" cy="82947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86" name="箭头: 下 85">
              <a:extLst>
                <a:ext uri="{FF2B5EF4-FFF2-40B4-BE49-F238E27FC236}">
                  <a16:creationId xmlns:a16="http://schemas.microsoft.com/office/drawing/2014/main" id="{C37F81EE-C935-3CF5-AC1A-C82F556ED08C}"/>
                </a:ext>
              </a:extLst>
            </p:cNvPr>
            <p:cNvSpPr/>
            <p:nvPr/>
          </p:nvSpPr>
          <p:spPr>
            <a:xfrm>
              <a:off x="2731585" y="507938"/>
              <a:ext cx="191633" cy="82947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87" name="箭头: 下 86">
              <a:extLst>
                <a:ext uri="{FF2B5EF4-FFF2-40B4-BE49-F238E27FC236}">
                  <a16:creationId xmlns:a16="http://schemas.microsoft.com/office/drawing/2014/main" id="{56E7DCD2-F49B-C026-75F9-7909A56182AB}"/>
                </a:ext>
              </a:extLst>
            </p:cNvPr>
            <p:cNvSpPr/>
            <p:nvPr/>
          </p:nvSpPr>
          <p:spPr>
            <a:xfrm>
              <a:off x="2731585" y="789550"/>
              <a:ext cx="191633" cy="82947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C742F3EB-3D45-AB37-C2DB-6C1B585BB818}"/>
                </a:ext>
              </a:extLst>
            </p:cNvPr>
            <p:cNvSpPr/>
            <p:nvPr/>
          </p:nvSpPr>
          <p:spPr>
            <a:xfrm>
              <a:off x="1618184" y="112236"/>
              <a:ext cx="746104" cy="1186974"/>
            </a:xfrm>
            <a:prstGeom prst="roundRect">
              <a:avLst>
                <a:gd name="adj" fmla="val 7783"/>
              </a:avLst>
            </a:prstGeom>
            <a:noFill/>
            <a:ln w="6350">
              <a:solidFill>
                <a:schemeClr val="tx1"/>
              </a:solidFill>
              <a:prstDash val="dash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7F082868-DC56-D0EB-4FEE-7A7EC65C2FAB}"/>
                </a:ext>
              </a:extLst>
            </p:cNvPr>
            <p:cNvSpPr/>
            <p:nvPr/>
          </p:nvSpPr>
          <p:spPr>
            <a:xfrm>
              <a:off x="2454349" y="112237"/>
              <a:ext cx="746104" cy="1186974"/>
            </a:xfrm>
            <a:prstGeom prst="roundRect">
              <a:avLst>
                <a:gd name="adj" fmla="val 7783"/>
              </a:avLst>
            </a:prstGeom>
            <a:noFill/>
            <a:ln w="6350">
              <a:solidFill>
                <a:schemeClr val="tx1"/>
              </a:solidFill>
              <a:prstDash val="dash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FE272EB-F86B-B24C-D8EB-FE327BA01392}"/>
                </a:ext>
              </a:extLst>
            </p:cNvPr>
            <p:cNvSpPr/>
            <p:nvPr/>
          </p:nvSpPr>
          <p:spPr>
            <a:xfrm>
              <a:off x="668603" y="1336002"/>
              <a:ext cx="988156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(b) Stand-alone Dedup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82F8E615-1006-9CCB-D693-4AFFE6B0D46B}"/>
                </a:ext>
              </a:extLst>
            </p:cNvPr>
            <p:cNvSpPr/>
            <p:nvPr/>
          </p:nvSpPr>
          <p:spPr>
            <a:xfrm>
              <a:off x="1618183" y="1336002"/>
              <a:ext cx="746104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(c) Dedup FS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46CBAF06-2201-0174-C0BE-B2B0BBC215AA}"/>
                </a:ext>
              </a:extLst>
            </p:cNvPr>
            <p:cNvSpPr/>
            <p:nvPr/>
          </p:nvSpPr>
          <p:spPr>
            <a:xfrm>
              <a:off x="2454350" y="1336002"/>
              <a:ext cx="746104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(d) FDM (Ours)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466C47BF-9901-C48A-230E-F340130CDFEF}"/>
                </a:ext>
              </a:extLst>
            </p:cNvPr>
            <p:cNvSpPr/>
            <p:nvPr/>
          </p:nvSpPr>
          <p:spPr>
            <a:xfrm>
              <a:off x="53317" y="-79681"/>
              <a:ext cx="226816" cy="136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068D29D3-278A-FA55-072D-AB76082EC533}"/>
                </a:ext>
              </a:extLst>
            </p:cNvPr>
            <p:cNvSpPr/>
            <p:nvPr/>
          </p:nvSpPr>
          <p:spPr>
            <a:xfrm>
              <a:off x="323279" y="-86787"/>
              <a:ext cx="443388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Dedup I/O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6CC7B5EF-5F27-A109-C994-E64C2F42AC62}"/>
                </a:ext>
              </a:extLst>
            </p:cNvPr>
            <p:cNvSpPr/>
            <p:nvPr/>
          </p:nvSpPr>
          <p:spPr>
            <a:xfrm>
              <a:off x="1766228" y="-79681"/>
              <a:ext cx="226816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51148BD9-EA86-6BB2-35AB-F7F7295C125A}"/>
                </a:ext>
              </a:extLst>
            </p:cNvPr>
            <p:cNvSpPr/>
            <p:nvPr/>
          </p:nvSpPr>
          <p:spPr>
            <a:xfrm>
              <a:off x="2036190" y="-86787"/>
              <a:ext cx="269962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FS I/O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5" name="箭头: 下 104">
              <a:extLst>
                <a:ext uri="{FF2B5EF4-FFF2-40B4-BE49-F238E27FC236}">
                  <a16:creationId xmlns:a16="http://schemas.microsoft.com/office/drawing/2014/main" id="{7F1FBBFE-402A-E044-642D-C34CE1F99641}"/>
                </a:ext>
              </a:extLst>
            </p:cNvPr>
            <p:cNvSpPr/>
            <p:nvPr/>
          </p:nvSpPr>
          <p:spPr>
            <a:xfrm>
              <a:off x="799829" y="-79681"/>
              <a:ext cx="226816" cy="136601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1AE0CE8C-56F9-0707-C842-26543B2D1F57}"/>
                </a:ext>
              </a:extLst>
            </p:cNvPr>
            <p:cNvSpPr/>
            <p:nvPr/>
          </p:nvSpPr>
          <p:spPr>
            <a:xfrm>
              <a:off x="1069791" y="-86787"/>
              <a:ext cx="663274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Dedup Ordered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7" name="箭头: 下 106">
              <a:extLst>
                <a:ext uri="{FF2B5EF4-FFF2-40B4-BE49-F238E27FC236}">
                  <a16:creationId xmlns:a16="http://schemas.microsoft.com/office/drawing/2014/main" id="{B0B8BFCD-5C8D-9549-4A74-BA6CDE74C227}"/>
                </a:ext>
              </a:extLst>
            </p:cNvPr>
            <p:cNvSpPr/>
            <p:nvPr/>
          </p:nvSpPr>
          <p:spPr>
            <a:xfrm>
              <a:off x="2344372" y="-79681"/>
              <a:ext cx="226816" cy="136601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2B26A1C4-08B6-FF4D-5B2F-8E94BA490A7A}"/>
                </a:ext>
              </a:extLst>
            </p:cNvPr>
            <p:cNvSpPr/>
            <p:nvPr/>
          </p:nvSpPr>
          <p:spPr>
            <a:xfrm>
              <a:off x="2614334" y="-86787"/>
              <a:ext cx="486534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FS Ordered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248565DC-1DD6-2138-15FD-A0FBB36B6133}"/>
                </a:ext>
              </a:extLst>
            </p:cNvPr>
            <p:cNvSpPr/>
            <p:nvPr/>
          </p:nvSpPr>
          <p:spPr>
            <a:xfrm>
              <a:off x="32997" y="903298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③ </a:t>
              </a:r>
              <a:r>
                <a:rPr lang="en-US" altLang="zh-CN" sz="700" dirty="0">
                  <a:solidFill>
                    <a:schemeClr val="tx1"/>
                  </a:solidFill>
                </a:rPr>
                <a:t>LBN:PBN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A7914843-256C-3652-1545-306A3B741A68}"/>
                </a:ext>
              </a:extLst>
            </p:cNvPr>
            <p:cNvSpPr/>
            <p:nvPr/>
          </p:nvSpPr>
          <p:spPr>
            <a:xfrm>
              <a:off x="32997" y="340305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① </a:t>
              </a:r>
              <a:r>
                <a:rPr lang="en-US" altLang="zh-CN" sz="700" dirty="0">
                  <a:solidFill>
                    <a:schemeClr val="tx1"/>
                  </a:solidFill>
                </a:rPr>
                <a:t>Allocate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E0DDB40A-348A-194D-AC47-D9EF91957D8C}"/>
                </a:ext>
              </a:extLst>
            </p:cNvPr>
            <p:cNvSpPr/>
            <p:nvPr/>
          </p:nvSpPr>
          <p:spPr>
            <a:xfrm>
              <a:off x="32997" y="621917"/>
              <a:ext cx="559995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</a:rPr>
                <a:t>② </a:t>
              </a:r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2" name="箭头: 下 121">
              <a:extLst>
                <a:ext uri="{FF2B5EF4-FFF2-40B4-BE49-F238E27FC236}">
                  <a16:creationId xmlns:a16="http://schemas.microsoft.com/office/drawing/2014/main" id="{43369018-71B9-BA3C-7358-7034FE2F6A12}"/>
                </a:ext>
              </a:extLst>
            </p:cNvPr>
            <p:cNvSpPr/>
            <p:nvPr/>
          </p:nvSpPr>
          <p:spPr>
            <a:xfrm>
              <a:off x="223090" y="507938"/>
              <a:ext cx="191633" cy="82947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3" name="箭头: 下 122">
              <a:extLst>
                <a:ext uri="{FF2B5EF4-FFF2-40B4-BE49-F238E27FC236}">
                  <a16:creationId xmlns:a16="http://schemas.microsoft.com/office/drawing/2014/main" id="{A8765874-75E7-FF6E-5B90-A972031F2C8C}"/>
                </a:ext>
              </a:extLst>
            </p:cNvPr>
            <p:cNvSpPr/>
            <p:nvPr/>
          </p:nvSpPr>
          <p:spPr>
            <a:xfrm>
              <a:off x="223090" y="789550"/>
              <a:ext cx="191633" cy="82947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BAF8E616-C946-B236-B6BB-33BABA3CC16C}"/>
                </a:ext>
              </a:extLst>
            </p:cNvPr>
            <p:cNvSpPr/>
            <p:nvPr/>
          </p:nvSpPr>
          <p:spPr>
            <a:xfrm>
              <a:off x="-54146" y="112237"/>
              <a:ext cx="746104" cy="1186974"/>
            </a:xfrm>
            <a:prstGeom prst="roundRect">
              <a:avLst>
                <a:gd name="adj" fmla="val 7783"/>
              </a:avLst>
            </a:prstGeom>
            <a:noFill/>
            <a:ln w="6350">
              <a:prstDash val="dash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0FE40C5B-F081-C164-82C8-BBFC177743F7}"/>
                </a:ext>
              </a:extLst>
            </p:cNvPr>
            <p:cNvSpPr/>
            <p:nvPr/>
          </p:nvSpPr>
          <p:spPr>
            <a:xfrm>
              <a:off x="-54148" y="1336002"/>
              <a:ext cx="746105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(a) File System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9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99F652C-4B35-9C72-67B9-0AA0CA3F60F5}"/>
              </a:ext>
            </a:extLst>
          </p:cNvPr>
          <p:cNvCxnSpPr>
            <a:cxnSpLocks/>
            <a:stCxn id="47" idx="2"/>
            <a:endCxn id="40" idx="0"/>
          </p:cNvCxnSpPr>
          <p:nvPr/>
        </p:nvCxnSpPr>
        <p:spPr>
          <a:xfrm>
            <a:off x="1437298" y="346710"/>
            <a:ext cx="163831" cy="38449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AC21FCC-CC08-EB7E-0EC3-6A30291B3061}"/>
              </a:ext>
            </a:extLst>
          </p:cNvPr>
          <p:cNvCxnSpPr>
            <a:cxnSpLocks/>
            <a:stCxn id="46" idx="2"/>
            <a:endCxn id="37" idx="0"/>
          </p:cNvCxnSpPr>
          <p:nvPr/>
        </p:nvCxnSpPr>
        <p:spPr>
          <a:xfrm flipH="1">
            <a:off x="1041420" y="346710"/>
            <a:ext cx="134811" cy="38449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A3E8F724-EB50-A300-9A3C-5646C0335EF4}"/>
              </a:ext>
            </a:extLst>
          </p:cNvPr>
          <p:cNvSpPr/>
          <p:nvPr/>
        </p:nvSpPr>
        <p:spPr>
          <a:xfrm>
            <a:off x="60240" y="201930"/>
            <a:ext cx="418188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file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CB7E23-1A48-4706-3D11-6F01D69476CB}"/>
              </a:ext>
            </a:extLst>
          </p:cNvPr>
          <p:cNvSpPr/>
          <p:nvPr/>
        </p:nvSpPr>
        <p:spPr>
          <a:xfrm>
            <a:off x="60239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EF063B-6A0E-79D0-5834-F1D2128AEDA6}"/>
              </a:ext>
            </a:extLst>
          </p:cNvPr>
          <p:cNvSpPr/>
          <p:nvPr/>
        </p:nvSpPr>
        <p:spPr>
          <a:xfrm>
            <a:off x="292288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B2C47F-6842-80AF-A62B-18A4425900C1}"/>
              </a:ext>
            </a:extLst>
          </p:cNvPr>
          <p:cNvSpPr/>
          <p:nvPr/>
        </p:nvSpPr>
        <p:spPr>
          <a:xfrm>
            <a:off x="619948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92FD91-3553-7088-52E9-3F4681821A71}"/>
              </a:ext>
            </a:extLst>
          </p:cNvPr>
          <p:cNvSpPr/>
          <p:nvPr/>
        </p:nvSpPr>
        <p:spPr>
          <a:xfrm>
            <a:off x="498074" y="419100"/>
            <a:ext cx="102228" cy="14478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···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30AACF-6FD4-0292-A8B7-6269BB8F9981}"/>
              </a:ext>
            </a:extLst>
          </p:cNvPr>
          <p:cNvSpPr/>
          <p:nvPr/>
        </p:nvSpPr>
        <p:spPr>
          <a:xfrm>
            <a:off x="60239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A08D80A-AEBE-40F2-E007-D5C78F0A8981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153310" y="563880"/>
            <a:ext cx="0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89AA88F-39A9-C378-0A59-A410919986C2}"/>
              </a:ext>
            </a:extLst>
          </p:cNvPr>
          <p:cNvSpPr/>
          <p:nvPr/>
        </p:nvSpPr>
        <p:spPr>
          <a:xfrm>
            <a:off x="292287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89F27F-7157-520A-8BC5-EA946558CECA}"/>
              </a:ext>
            </a:extLst>
          </p:cNvPr>
          <p:cNvSpPr/>
          <p:nvPr/>
        </p:nvSpPr>
        <p:spPr>
          <a:xfrm>
            <a:off x="619948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701488A-0394-ABBA-0A6F-F0E4436F6590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flipH="1">
            <a:off x="385358" y="563880"/>
            <a:ext cx="1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B16652D-F706-0CB4-3C66-74800155A33B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713019" y="563880"/>
            <a:ext cx="0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0A1B0A7F-43E8-B94A-1F96-7324156BC83C}"/>
              </a:ext>
            </a:extLst>
          </p:cNvPr>
          <p:cNvSpPr/>
          <p:nvPr/>
        </p:nvSpPr>
        <p:spPr>
          <a:xfrm>
            <a:off x="948349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ED3E3C-0D55-4307-80BA-6EEB0475D2F0}"/>
              </a:ext>
            </a:extLst>
          </p:cNvPr>
          <p:cNvSpPr/>
          <p:nvPr/>
        </p:nvSpPr>
        <p:spPr>
          <a:xfrm>
            <a:off x="1180398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267E69-86AF-6AAF-3BFE-C8486EC785F1}"/>
              </a:ext>
            </a:extLst>
          </p:cNvPr>
          <p:cNvSpPr/>
          <p:nvPr/>
        </p:nvSpPr>
        <p:spPr>
          <a:xfrm>
            <a:off x="1508058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5C171B1-4AAB-BED0-CAE9-999AF1F6A5C4}"/>
              </a:ext>
            </a:extLst>
          </p:cNvPr>
          <p:cNvSpPr/>
          <p:nvPr/>
        </p:nvSpPr>
        <p:spPr>
          <a:xfrm>
            <a:off x="1386184" y="419100"/>
            <a:ext cx="102228" cy="14478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···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0ADE99A-C71B-7287-CAA4-45A6239C2E7F}"/>
              </a:ext>
            </a:extLst>
          </p:cNvPr>
          <p:cNvSpPr/>
          <p:nvPr/>
        </p:nvSpPr>
        <p:spPr>
          <a:xfrm>
            <a:off x="948349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41B8676-36A1-0ECF-5E3E-4AE36FDD5F1E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1041420" y="563880"/>
            <a:ext cx="0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7F729EE4-4D9F-21CE-647B-9865A2E9A691}"/>
              </a:ext>
            </a:extLst>
          </p:cNvPr>
          <p:cNvSpPr/>
          <p:nvPr/>
        </p:nvSpPr>
        <p:spPr>
          <a:xfrm>
            <a:off x="1508058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13FB8E7-E74D-1282-7B82-4C294931D406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 flipH="1">
            <a:off x="1041420" y="563880"/>
            <a:ext cx="232049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8F9D41C-2C4F-02CB-E5B6-3FFF89EF7239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1601129" y="563880"/>
            <a:ext cx="0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6FB76FD9-E5E8-D091-0291-7EC94A6DD15A}"/>
              </a:ext>
            </a:extLst>
          </p:cNvPr>
          <p:cNvSpPr/>
          <p:nvPr/>
        </p:nvSpPr>
        <p:spPr>
          <a:xfrm>
            <a:off x="1083160" y="20193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FP:2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A2D35A6-76E5-EF86-9370-BBFCA53EFF10}"/>
              </a:ext>
            </a:extLst>
          </p:cNvPr>
          <p:cNvSpPr/>
          <p:nvPr/>
        </p:nvSpPr>
        <p:spPr>
          <a:xfrm>
            <a:off x="1344227" y="20193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FP:1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EA3C4E5A-C469-D154-6B31-EED5FA52B0A6}"/>
              </a:ext>
            </a:extLst>
          </p:cNvPr>
          <p:cNvCxnSpPr>
            <a:cxnSpLocks/>
            <a:stCxn id="128" idx="2"/>
            <a:endCxn id="116" idx="0"/>
          </p:cNvCxnSpPr>
          <p:nvPr/>
        </p:nvCxnSpPr>
        <p:spPr>
          <a:xfrm>
            <a:off x="2295865" y="144780"/>
            <a:ext cx="163831" cy="5864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CA89549D-F55C-9783-B217-B3B42E408C89}"/>
              </a:ext>
            </a:extLst>
          </p:cNvPr>
          <p:cNvCxnSpPr>
            <a:cxnSpLocks/>
            <a:stCxn id="127" idx="2"/>
            <a:endCxn id="114" idx="0"/>
          </p:cNvCxnSpPr>
          <p:nvPr/>
        </p:nvCxnSpPr>
        <p:spPr>
          <a:xfrm flipH="1">
            <a:off x="1899987" y="144780"/>
            <a:ext cx="134811" cy="5864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F9DE15B0-CBF3-63B4-6048-59AC0647E6D4}"/>
              </a:ext>
            </a:extLst>
          </p:cNvPr>
          <p:cNvSpPr/>
          <p:nvPr/>
        </p:nvSpPr>
        <p:spPr>
          <a:xfrm>
            <a:off x="1806916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B27F302-173E-E60C-3BCC-4B9062C979A0}"/>
              </a:ext>
            </a:extLst>
          </p:cNvPr>
          <p:cNvSpPr/>
          <p:nvPr/>
        </p:nvSpPr>
        <p:spPr>
          <a:xfrm>
            <a:off x="2038965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BE28846-31A1-FB2F-B1AC-FC83FB5A4138}"/>
              </a:ext>
            </a:extLst>
          </p:cNvPr>
          <p:cNvSpPr/>
          <p:nvPr/>
        </p:nvSpPr>
        <p:spPr>
          <a:xfrm>
            <a:off x="2366625" y="41910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L2P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6E998C4-42E8-F2CE-B879-D7D8D4E5BAA7}"/>
              </a:ext>
            </a:extLst>
          </p:cNvPr>
          <p:cNvSpPr/>
          <p:nvPr/>
        </p:nvSpPr>
        <p:spPr>
          <a:xfrm>
            <a:off x="2244751" y="419100"/>
            <a:ext cx="102228" cy="14478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···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42D7CF9-7A6F-2E3A-7554-E87DDF3CD026}"/>
              </a:ext>
            </a:extLst>
          </p:cNvPr>
          <p:cNvSpPr/>
          <p:nvPr/>
        </p:nvSpPr>
        <p:spPr>
          <a:xfrm>
            <a:off x="1806916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9539F585-523B-F9E6-89FB-7A85E05DB2CE}"/>
              </a:ext>
            </a:extLst>
          </p:cNvPr>
          <p:cNvCxnSpPr>
            <a:cxnSpLocks/>
            <a:stCxn id="110" idx="2"/>
            <a:endCxn id="114" idx="0"/>
          </p:cNvCxnSpPr>
          <p:nvPr/>
        </p:nvCxnSpPr>
        <p:spPr>
          <a:xfrm>
            <a:off x="1899987" y="563880"/>
            <a:ext cx="0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E56FEFB2-C8A7-5588-FC11-BA4E6DDAB3FA}"/>
              </a:ext>
            </a:extLst>
          </p:cNvPr>
          <p:cNvSpPr/>
          <p:nvPr/>
        </p:nvSpPr>
        <p:spPr>
          <a:xfrm>
            <a:off x="2366625" y="731203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Data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46DCC0DF-9F2B-5694-63A0-71D4AA01BDD4}"/>
              </a:ext>
            </a:extLst>
          </p:cNvPr>
          <p:cNvCxnSpPr>
            <a:cxnSpLocks/>
            <a:stCxn id="111" idx="2"/>
            <a:endCxn id="114" idx="0"/>
          </p:cNvCxnSpPr>
          <p:nvPr/>
        </p:nvCxnSpPr>
        <p:spPr>
          <a:xfrm flipH="1">
            <a:off x="1899987" y="563880"/>
            <a:ext cx="232049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F74AA17A-C19F-FB97-6D42-FACBF23030C8}"/>
              </a:ext>
            </a:extLst>
          </p:cNvPr>
          <p:cNvCxnSpPr>
            <a:cxnSpLocks/>
            <a:stCxn id="112" idx="2"/>
            <a:endCxn id="116" idx="0"/>
          </p:cNvCxnSpPr>
          <p:nvPr/>
        </p:nvCxnSpPr>
        <p:spPr>
          <a:xfrm>
            <a:off x="2459696" y="563880"/>
            <a:ext cx="0" cy="16732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0973FB32-C491-5D68-48C8-A70DE80D6B23}"/>
              </a:ext>
            </a:extLst>
          </p:cNvPr>
          <p:cNvSpPr/>
          <p:nvPr/>
        </p:nvSpPr>
        <p:spPr>
          <a:xfrm>
            <a:off x="1941727" y="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FP:2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835F5D7-7356-7966-4E22-AED4BB8790F0}"/>
              </a:ext>
            </a:extLst>
          </p:cNvPr>
          <p:cNvSpPr/>
          <p:nvPr/>
        </p:nvSpPr>
        <p:spPr>
          <a:xfrm>
            <a:off x="2202794" y="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FP:1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27EEBBFB-4C8D-2B52-1567-262A73131C4B}"/>
              </a:ext>
            </a:extLst>
          </p:cNvPr>
          <p:cNvSpPr/>
          <p:nvPr/>
        </p:nvSpPr>
        <p:spPr>
          <a:xfrm>
            <a:off x="1806916" y="201930"/>
            <a:ext cx="418190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file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E36D9F54-F98C-C0C9-2099-8570029FA582}"/>
              </a:ext>
            </a:extLst>
          </p:cNvPr>
          <p:cNvSpPr/>
          <p:nvPr/>
        </p:nvSpPr>
        <p:spPr>
          <a:xfrm>
            <a:off x="619948" y="201930"/>
            <a:ext cx="191455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file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AB5CB56-D9FC-143B-617B-6766066BE64F}"/>
              </a:ext>
            </a:extLst>
          </p:cNvPr>
          <p:cNvSpPr/>
          <p:nvPr/>
        </p:nvSpPr>
        <p:spPr>
          <a:xfrm>
            <a:off x="2366625" y="201930"/>
            <a:ext cx="186141" cy="144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file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69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F3656BF-CFF6-F865-BD57-FB543783B76B}"/>
              </a:ext>
            </a:extLst>
          </p:cNvPr>
          <p:cNvGrpSpPr/>
          <p:nvPr/>
        </p:nvGrpSpPr>
        <p:grpSpPr>
          <a:xfrm>
            <a:off x="73275" y="5914"/>
            <a:ext cx="3057023" cy="1467994"/>
            <a:chOff x="115982" y="5914"/>
            <a:chExt cx="3057023" cy="1467994"/>
          </a:xfrm>
        </p:grpSpPr>
        <p:sp>
          <p:nvSpPr>
            <p:cNvPr id="263" name="矩形: 圆角 262">
              <a:extLst>
                <a:ext uri="{FF2B5EF4-FFF2-40B4-BE49-F238E27FC236}">
                  <a16:creationId xmlns:a16="http://schemas.microsoft.com/office/drawing/2014/main" id="{20568FF3-F533-DAC7-6D2F-0A31D88D7A50}"/>
                </a:ext>
              </a:extLst>
            </p:cNvPr>
            <p:cNvSpPr/>
            <p:nvPr/>
          </p:nvSpPr>
          <p:spPr>
            <a:xfrm>
              <a:off x="2306386" y="21533"/>
              <a:ext cx="866619" cy="1429760"/>
            </a:xfrm>
            <a:prstGeom prst="roundRect">
              <a:avLst>
                <a:gd name="adj" fmla="val 4674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6F8D0B7-48B3-C320-8EE7-CB770F26638F}"/>
                </a:ext>
              </a:extLst>
            </p:cNvPr>
            <p:cNvSpPr/>
            <p:nvPr/>
          </p:nvSpPr>
          <p:spPr>
            <a:xfrm>
              <a:off x="116615" y="5914"/>
              <a:ext cx="2087882" cy="1323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Applications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A5339C6-FC1E-6707-635C-35DC7A1985E9}"/>
                </a:ext>
              </a:extLst>
            </p:cNvPr>
            <p:cNvSpPr/>
            <p:nvPr/>
          </p:nvSpPr>
          <p:spPr>
            <a:xfrm>
              <a:off x="116616" y="978361"/>
              <a:ext cx="932100" cy="253095"/>
            </a:xfrm>
            <a:custGeom>
              <a:avLst/>
              <a:gdLst>
                <a:gd name="connsiteX0" fmla="*/ 0 w 515621"/>
                <a:gd name="connsiteY0" fmla="*/ 0 h 253095"/>
                <a:gd name="connsiteX1" fmla="*/ 515621 w 515621"/>
                <a:gd name="connsiteY1" fmla="*/ 0 h 253095"/>
                <a:gd name="connsiteX2" fmla="*/ 515621 w 515621"/>
                <a:gd name="connsiteY2" fmla="*/ 253095 h 253095"/>
                <a:gd name="connsiteX3" fmla="*/ 0 w 515621"/>
                <a:gd name="connsiteY3" fmla="*/ 253095 h 253095"/>
                <a:gd name="connsiteX4" fmla="*/ 0 w 515621"/>
                <a:gd name="connsiteY4" fmla="*/ 0 h 253095"/>
                <a:gd name="connsiteX0" fmla="*/ 0 w 515621"/>
                <a:gd name="connsiteY0" fmla="*/ 0 h 253095"/>
                <a:gd name="connsiteX1" fmla="*/ 515621 w 515621"/>
                <a:gd name="connsiteY1" fmla="*/ 0 h 253095"/>
                <a:gd name="connsiteX2" fmla="*/ 515621 w 515621"/>
                <a:gd name="connsiteY2" fmla="*/ 253095 h 253095"/>
                <a:gd name="connsiteX3" fmla="*/ 88901 w 515621"/>
                <a:gd name="connsiteY3" fmla="*/ 250999 h 253095"/>
                <a:gd name="connsiteX4" fmla="*/ 0 w 515621"/>
                <a:gd name="connsiteY4" fmla="*/ 253095 h 253095"/>
                <a:gd name="connsiteX5" fmla="*/ 0 w 515621"/>
                <a:gd name="connsiteY5" fmla="*/ 0 h 253095"/>
                <a:gd name="connsiteX0" fmla="*/ 0 w 515621"/>
                <a:gd name="connsiteY0" fmla="*/ 0 h 253095"/>
                <a:gd name="connsiteX1" fmla="*/ 515621 w 515621"/>
                <a:gd name="connsiteY1" fmla="*/ 0 h 253095"/>
                <a:gd name="connsiteX2" fmla="*/ 515621 w 515621"/>
                <a:gd name="connsiteY2" fmla="*/ 253095 h 253095"/>
                <a:gd name="connsiteX3" fmla="*/ 424181 w 515621"/>
                <a:gd name="connsiteY3" fmla="*/ 250999 h 253095"/>
                <a:gd name="connsiteX4" fmla="*/ 88901 w 515621"/>
                <a:gd name="connsiteY4" fmla="*/ 250999 h 253095"/>
                <a:gd name="connsiteX5" fmla="*/ 0 w 515621"/>
                <a:gd name="connsiteY5" fmla="*/ 253095 h 253095"/>
                <a:gd name="connsiteX6" fmla="*/ 0 w 515621"/>
                <a:gd name="connsiteY6" fmla="*/ 0 h 25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5621" h="253095">
                  <a:moveTo>
                    <a:pt x="0" y="0"/>
                  </a:moveTo>
                  <a:lnTo>
                    <a:pt x="515621" y="0"/>
                  </a:lnTo>
                  <a:lnTo>
                    <a:pt x="515621" y="253095"/>
                  </a:lnTo>
                  <a:lnTo>
                    <a:pt x="424181" y="250999"/>
                  </a:lnTo>
                  <a:lnTo>
                    <a:pt x="88901" y="250999"/>
                  </a:lnTo>
                  <a:lnTo>
                    <a:pt x="0" y="253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Overflow FP Table (OFT)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6765D8C-5C91-3C84-12EE-2729A1543627}"/>
                </a:ext>
              </a:extLst>
            </p:cNvPr>
            <p:cNvSpPr/>
            <p:nvPr/>
          </p:nvSpPr>
          <p:spPr>
            <a:xfrm>
              <a:off x="1046251" y="978361"/>
              <a:ext cx="1158246" cy="25309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4" name="卷形: 垂直 23">
              <a:extLst>
                <a:ext uri="{FF2B5EF4-FFF2-40B4-BE49-F238E27FC236}">
                  <a16:creationId xmlns:a16="http://schemas.microsoft.com/office/drawing/2014/main" id="{805C62E6-327B-243E-A0D6-1DBDC76D6E18}"/>
                </a:ext>
              </a:extLst>
            </p:cNvPr>
            <p:cNvSpPr/>
            <p:nvPr/>
          </p:nvSpPr>
          <p:spPr>
            <a:xfrm>
              <a:off x="1111260" y="408225"/>
              <a:ext cx="314971" cy="187722"/>
            </a:xfrm>
            <a:prstGeom prst="verticalScroll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File 1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卷形: 垂直 24">
              <a:extLst>
                <a:ext uri="{FF2B5EF4-FFF2-40B4-BE49-F238E27FC236}">
                  <a16:creationId xmlns:a16="http://schemas.microsoft.com/office/drawing/2014/main" id="{F8728257-F4D7-0EED-A953-0C7E6B5331BC}"/>
                </a:ext>
              </a:extLst>
            </p:cNvPr>
            <p:cNvSpPr/>
            <p:nvPr/>
          </p:nvSpPr>
          <p:spPr>
            <a:xfrm>
              <a:off x="1511068" y="408225"/>
              <a:ext cx="314971" cy="187722"/>
            </a:xfrm>
            <a:prstGeom prst="verticalScroll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File 2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A923651-7235-2DAF-B20A-A71B2627AD5F}"/>
                </a:ext>
              </a:extLst>
            </p:cNvPr>
            <p:cNvSpPr/>
            <p:nvPr/>
          </p:nvSpPr>
          <p:spPr>
            <a:xfrm>
              <a:off x="116615" y="602228"/>
              <a:ext cx="929636" cy="2992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8EDF130-1220-94C9-6CF6-2EB1F983513D}"/>
                </a:ext>
              </a:extLst>
            </p:cNvPr>
            <p:cNvSpPr/>
            <p:nvPr/>
          </p:nvSpPr>
          <p:spPr>
            <a:xfrm>
              <a:off x="116616" y="401453"/>
              <a:ext cx="929635" cy="13660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Duplication Identifier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8F11A96-D7E8-534D-F5FB-F2F7B3AADEEF}"/>
                </a:ext>
              </a:extLst>
            </p:cNvPr>
            <p:cNvSpPr/>
            <p:nvPr/>
          </p:nvSpPr>
          <p:spPr>
            <a:xfrm>
              <a:off x="1111260" y="723883"/>
              <a:ext cx="317811" cy="13660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FS IDX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99B0D55-567E-33A7-DF2D-C892D0DFC586}"/>
                </a:ext>
              </a:extLst>
            </p:cNvPr>
            <p:cNvSpPr/>
            <p:nvPr/>
          </p:nvSpPr>
          <p:spPr>
            <a:xfrm>
              <a:off x="1511068" y="720115"/>
              <a:ext cx="317811" cy="13660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15A85CB-D2D3-CA4E-42AE-DCF8DDFE6C68}"/>
                </a:ext>
              </a:extLst>
            </p:cNvPr>
            <p:cNvCxnSpPr>
              <a:cxnSpLocks/>
              <a:stCxn id="51" idx="2"/>
              <a:endCxn id="122" idx="3"/>
            </p:cNvCxnSpPr>
            <p:nvPr/>
          </p:nvCxnSpPr>
          <p:spPr>
            <a:xfrm flipH="1">
              <a:off x="1180238" y="860485"/>
              <a:ext cx="89928" cy="15761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7789910-62EC-4430-1B97-60C01489827C}"/>
                </a:ext>
              </a:extLst>
            </p:cNvPr>
            <p:cNvCxnSpPr>
              <a:cxnSpLocks/>
              <a:stCxn id="51" idx="2"/>
              <a:endCxn id="123" idx="3"/>
            </p:cNvCxnSpPr>
            <p:nvPr/>
          </p:nvCxnSpPr>
          <p:spPr>
            <a:xfrm>
              <a:off x="1270166" y="860485"/>
              <a:ext cx="69619" cy="15761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3DED4C1F-84BF-C192-FD05-BDFEA8E5FAC8}"/>
                </a:ext>
              </a:extLst>
            </p:cNvPr>
            <p:cNvCxnSpPr>
              <a:cxnSpLocks/>
              <a:stCxn id="52" idx="2"/>
              <a:endCxn id="125" idx="3"/>
            </p:cNvCxnSpPr>
            <p:nvPr/>
          </p:nvCxnSpPr>
          <p:spPr>
            <a:xfrm>
              <a:off x="1669974" y="856717"/>
              <a:ext cx="24994" cy="161379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689BA5C3-DAAD-E9AF-F770-332814D18076}"/>
                </a:ext>
              </a:extLst>
            </p:cNvPr>
            <p:cNvCxnSpPr>
              <a:cxnSpLocks/>
              <a:stCxn id="52" idx="2"/>
              <a:endCxn id="126" idx="3"/>
            </p:cNvCxnSpPr>
            <p:nvPr/>
          </p:nvCxnSpPr>
          <p:spPr>
            <a:xfrm>
              <a:off x="1669974" y="856717"/>
              <a:ext cx="206843" cy="161379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EF386886-A383-6EF3-C16E-7B58EE5A82F9}"/>
                </a:ext>
              </a:extLst>
            </p:cNvPr>
            <p:cNvSpPr/>
            <p:nvPr/>
          </p:nvSpPr>
          <p:spPr>
            <a:xfrm>
              <a:off x="1130672" y="1344368"/>
              <a:ext cx="195586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FEC32CA-F69B-BA55-41DB-44FB42030819}"/>
                </a:ext>
              </a:extLst>
            </p:cNvPr>
            <p:cNvSpPr/>
            <p:nvPr/>
          </p:nvSpPr>
          <p:spPr>
            <a:xfrm>
              <a:off x="1403983" y="1344368"/>
              <a:ext cx="195586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B3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21A8341-9AED-A650-F9CD-7CB4944D8049}"/>
                </a:ext>
              </a:extLst>
            </p:cNvPr>
            <p:cNvSpPr/>
            <p:nvPr/>
          </p:nvSpPr>
          <p:spPr>
            <a:xfrm>
              <a:off x="1656526" y="1344368"/>
              <a:ext cx="195586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B5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378EAFD1-999F-BB9C-B629-84CD0DFD62D9}"/>
                </a:ext>
              </a:extLst>
            </p:cNvPr>
            <p:cNvCxnSpPr>
              <a:cxnSpLocks/>
              <a:stCxn id="122" idx="1"/>
              <a:endCxn id="66" idx="0"/>
            </p:cNvCxnSpPr>
            <p:nvPr/>
          </p:nvCxnSpPr>
          <p:spPr>
            <a:xfrm>
              <a:off x="1180238" y="1197112"/>
              <a:ext cx="48227" cy="14725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C897B838-7AD2-8C68-86BE-713681254606}"/>
                </a:ext>
              </a:extLst>
            </p:cNvPr>
            <p:cNvCxnSpPr>
              <a:cxnSpLocks/>
              <a:stCxn id="123" idx="1"/>
              <a:endCxn id="66" idx="0"/>
            </p:cNvCxnSpPr>
            <p:nvPr/>
          </p:nvCxnSpPr>
          <p:spPr>
            <a:xfrm flipH="1">
              <a:off x="1228465" y="1197112"/>
              <a:ext cx="111320" cy="14725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0248C95D-4CFA-6293-9FDE-8E7CA179EA69}"/>
                </a:ext>
              </a:extLst>
            </p:cNvPr>
            <p:cNvCxnSpPr>
              <a:cxnSpLocks/>
              <a:stCxn id="124" idx="1"/>
              <a:endCxn id="67" idx="0"/>
            </p:cNvCxnSpPr>
            <p:nvPr/>
          </p:nvCxnSpPr>
          <p:spPr>
            <a:xfrm flipH="1">
              <a:off x="1501776" y="1197112"/>
              <a:ext cx="18299" cy="14725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087FABAF-ED4A-4B44-4ACD-C09A9838943A}"/>
                </a:ext>
              </a:extLst>
            </p:cNvPr>
            <p:cNvCxnSpPr>
              <a:cxnSpLocks/>
              <a:stCxn id="125" idx="1"/>
              <a:endCxn id="67" idx="0"/>
            </p:cNvCxnSpPr>
            <p:nvPr/>
          </p:nvCxnSpPr>
          <p:spPr>
            <a:xfrm flipH="1">
              <a:off x="1501776" y="1197112"/>
              <a:ext cx="193192" cy="14725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D6426A0D-9AD4-F6E0-0AE4-54F9FF3961A0}"/>
                </a:ext>
              </a:extLst>
            </p:cNvPr>
            <p:cNvCxnSpPr>
              <a:cxnSpLocks/>
              <a:stCxn id="126" idx="1"/>
              <a:endCxn id="68" idx="0"/>
            </p:cNvCxnSpPr>
            <p:nvPr/>
          </p:nvCxnSpPr>
          <p:spPr>
            <a:xfrm flipH="1">
              <a:off x="1754319" y="1197112"/>
              <a:ext cx="122498" cy="14725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15FC2316-F696-37D4-F724-D95567A43B3F}"/>
                </a:ext>
              </a:extLst>
            </p:cNvPr>
            <p:cNvSpPr/>
            <p:nvPr/>
          </p:nvSpPr>
          <p:spPr>
            <a:xfrm rot="16200000">
              <a:off x="1090729" y="1059514"/>
              <a:ext cx="179016" cy="96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567E0488-915F-367E-CD17-1EDB75139F3C}"/>
                </a:ext>
              </a:extLst>
            </p:cNvPr>
            <p:cNvSpPr/>
            <p:nvPr/>
          </p:nvSpPr>
          <p:spPr>
            <a:xfrm rot="16200000">
              <a:off x="1250276" y="1059514"/>
              <a:ext cx="179016" cy="96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BAA50391-74CF-849E-C45E-98364C414627}"/>
                </a:ext>
              </a:extLst>
            </p:cNvPr>
            <p:cNvSpPr/>
            <p:nvPr/>
          </p:nvSpPr>
          <p:spPr>
            <a:xfrm rot="16200000">
              <a:off x="1430566" y="1059514"/>
              <a:ext cx="179016" cy="96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FPa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59E6220-26FB-5910-8801-78F91E9E24F7}"/>
                </a:ext>
              </a:extLst>
            </p:cNvPr>
            <p:cNvSpPr/>
            <p:nvPr/>
          </p:nvSpPr>
          <p:spPr>
            <a:xfrm rot="16200000">
              <a:off x="1605459" y="1059514"/>
              <a:ext cx="179016" cy="96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FPa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EE1A6C3B-C024-A69B-20AA-8255FDB3509D}"/>
                </a:ext>
              </a:extLst>
            </p:cNvPr>
            <p:cNvSpPr/>
            <p:nvPr/>
          </p:nvSpPr>
          <p:spPr>
            <a:xfrm rot="16200000">
              <a:off x="1787308" y="1059514"/>
              <a:ext cx="179016" cy="96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FPb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93AEBFD3-389E-51B2-DDF4-3FBDD179CCAE}"/>
                </a:ext>
              </a:extLst>
            </p:cNvPr>
            <p:cNvCxnSpPr>
              <a:cxnSpLocks/>
              <a:stCxn id="51" idx="2"/>
              <a:endCxn id="124" idx="3"/>
            </p:cNvCxnSpPr>
            <p:nvPr/>
          </p:nvCxnSpPr>
          <p:spPr>
            <a:xfrm>
              <a:off x="1270166" y="860485"/>
              <a:ext cx="249909" cy="15761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FB759110-F559-DCAC-5FA4-578DD42468E7}"/>
                </a:ext>
              </a:extLst>
            </p:cNvPr>
            <p:cNvCxnSpPr>
              <a:cxnSpLocks/>
              <a:stCxn id="24" idx="2"/>
              <a:endCxn id="51" idx="0"/>
            </p:cNvCxnSpPr>
            <p:nvPr/>
          </p:nvCxnSpPr>
          <p:spPr>
            <a:xfrm>
              <a:off x="1268746" y="595947"/>
              <a:ext cx="1420" cy="12793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CD907E90-D80A-34BB-F9AE-7A5B5DDFDB4B}"/>
                </a:ext>
              </a:extLst>
            </p:cNvPr>
            <p:cNvCxnSpPr>
              <a:cxnSpLocks/>
              <a:stCxn id="25" idx="2"/>
              <a:endCxn id="52" idx="0"/>
            </p:cNvCxnSpPr>
            <p:nvPr/>
          </p:nvCxnSpPr>
          <p:spPr>
            <a:xfrm>
              <a:off x="1668554" y="595947"/>
              <a:ext cx="1420" cy="124168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61FEEE96-10DB-430D-C7E3-CDCB77A994E7}"/>
                </a:ext>
              </a:extLst>
            </p:cNvPr>
            <p:cNvSpPr/>
            <p:nvPr/>
          </p:nvSpPr>
          <p:spPr>
            <a:xfrm>
              <a:off x="171570" y="779476"/>
              <a:ext cx="279331" cy="8381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</a:rPr>
                <a:t>FPa</a:t>
              </a:r>
              <a:r>
                <a:rPr lang="en-US" altLang="zh-CN" sz="700" dirty="0">
                  <a:solidFill>
                    <a:schemeClr val="tx1"/>
                  </a:solidFill>
                </a:rPr>
                <a:t>: 2 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29CFABEA-C471-5AE4-C586-FB8BA3F6A9A5}"/>
                </a:ext>
              </a:extLst>
            </p:cNvPr>
            <p:cNvSpPr/>
            <p:nvPr/>
          </p:nvSpPr>
          <p:spPr>
            <a:xfrm>
              <a:off x="490655" y="779476"/>
              <a:ext cx="279331" cy="8381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</a:rPr>
                <a:t>FPb</a:t>
              </a:r>
              <a:r>
                <a:rPr lang="en-US" altLang="zh-CN" sz="700" dirty="0">
                  <a:solidFill>
                    <a:schemeClr val="tx1"/>
                  </a:solidFill>
                </a:rPr>
                <a:t>: 1 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1792B810-E926-FDB8-DDA1-1F0B80C2343A}"/>
                </a:ext>
              </a:extLst>
            </p:cNvPr>
            <p:cNvSpPr/>
            <p:nvPr/>
          </p:nvSpPr>
          <p:spPr>
            <a:xfrm>
              <a:off x="813779" y="779477"/>
              <a:ext cx="164641" cy="812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···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125AB794-FFA4-01AA-B8C1-C7ACF9F7F984}"/>
                </a:ext>
              </a:extLst>
            </p:cNvPr>
            <p:cNvSpPr/>
            <p:nvPr/>
          </p:nvSpPr>
          <p:spPr>
            <a:xfrm>
              <a:off x="116616" y="599093"/>
              <a:ext cx="929635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Global FP Index (GFI)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B9F4B78C-F4A7-BEB4-F134-C2884679DDE0}"/>
                </a:ext>
              </a:extLst>
            </p:cNvPr>
            <p:cNvSpPr/>
            <p:nvPr/>
          </p:nvSpPr>
          <p:spPr>
            <a:xfrm>
              <a:off x="1886686" y="720115"/>
              <a:ext cx="317811" cy="13660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3" name="卷形: 垂直 182">
              <a:extLst>
                <a:ext uri="{FF2B5EF4-FFF2-40B4-BE49-F238E27FC236}">
                  <a16:creationId xmlns:a16="http://schemas.microsoft.com/office/drawing/2014/main" id="{D98151E3-4547-6D75-977A-B76A862336C2}"/>
                </a:ext>
              </a:extLst>
            </p:cNvPr>
            <p:cNvSpPr/>
            <p:nvPr/>
          </p:nvSpPr>
          <p:spPr>
            <a:xfrm>
              <a:off x="1886686" y="408225"/>
              <a:ext cx="314971" cy="187722"/>
            </a:xfrm>
            <a:prstGeom prst="verticalScroll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File 3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4D18B440-5BE0-D08F-D37B-9611C2D96092}"/>
                </a:ext>
              </a:extLst>
            </p:cNvPr>
            <p:cNvCxnSpPr>
              <a:cxnSpLocks/>
              <a:stCxn id="183" idx="2"/>
              <a:endCxn id="181" idx="0"/>
            </p:cNvCxnSpPr>
            <p:nvPr/>
          </p:nvCxnSpPr>
          <p:spPr>
            <a:xfrm>
              <a:off x="2044172" y="595947"/>
              <a:ext cx="1420" cy="124168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AF9CBA8F-FC92-E22C-4548-07BF741C693C}"/>
                </a:ext>
              </a:extLst>
            </p:cNvPr>
            <p:cNvSpPr/>
            <p:nvPr/>
          </p:nvSpPr>
          <p:spPr>
            <a:xfrm rot="16200000">
              <a:off x="1954663" y="1059515"/>
              <a:ext cx="179016" cy="961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NIL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8ADBC878-EC30-6032-761C-934C393D6C32}"/>
                </a:ext>
              </a:extLst>
            </p:cNvPr>
            <p:cNvSpPr/>
            <p:nvPr/>
          </p:nvSpPr>
          <p:spPr>
            <a:xfrm>
              <a:off x="1885162" y="1344368"/>
              <a:ext cx="318656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B1-B2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DA559E1C-8E37-B29F-841A-21ED7DE8AFB9}"/>
                </a:ext>
              </a:extLst>
            </p:cNvPr>
            <p:cNvCxnSpPr>
              <a:cxnSpLocks/>
              <a:stCxn id="181" idx="2"/>
              <a:endCxn id="189" idx="3"/>
            </p:cNvCxnSpPr>
            <p:nvPr/>
          </p:nvCxnSpPr>
          <p:spPr>
            <a:xfrm flipH="1">
              <a:off x="2044172" y="856717"/>
              <a:ext cx="1420" cy="16138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2F28C0B2-67C8-B4CA-7B17-A8CC3178C100}"/>
                </a:ext>
              </a:extLst>
            </p:cNvPr>
            <p:cNvCxnSpPr>
              <a:cxnSpLocks/>
              <a:stCxn id="189" idx="1"/>
              <a:endCxn id="191" idx="0"/>
            </p:cNvCxnSpPr>
            <p:nvPr/>
          </p:nvCxnSpPr>
          <p:spPr>
            <a:xfrm>
              <a:off x="2044172" y="1197113"/>
              <a:ext cx="318" cy="147255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BB405E19-7C90-7866-C77F-40F2F76857A0}"/>
                </a:ext>
              </a:extLst>
            </p:cNvPr>
            <p:cNvSpPr/>
            <p:nvPr/>
          </p:nvSpPr>
          <p:spPr>
            <a:xfrm rot="16200000">
              <a:off x="74792" y="1336082"/>
              <a:ext cx="179016" cy="96636"/>
            </a:xfrm>
            <a:custGeom>
              <a:avLst/>
              <a:gdLst>
                <a:gd name="connsiteX0" fmla="*/ 0 w 179016"/>
                <a:gd name="connsiteY0" fmla="*/ 0 h 96179"/>
                <a:gd name="connsiteX1" fmla="*/ 179016 w 179016"/>
                <a:gd name="connsiteY1" fmla="*/ 0 h 96179"/>
                <a:gd name="connsiteX2" fmla="*/ 179016 w 179016"/>
                <a:gd name="connsiteY2" fmla="*/ 96179 h 96179"/>
                <a:gd name="connsiteX3" fmla="*/ 0 w 179016"/>
                <a:gd name="connsiteY3" fmla="*/ 96179 h 96179"/>
                <a:gd name="connsiteX4" fmla="*/ 0 w 179016"/>
                <a:gd name="connsiteY4" fmla="*/ 0 h 96179"/>
                <a:gd name="connsiteX0" fmla="*/ 0 w 179016"/>
                <a:gd name="connsiteY0" fmla="*/ 457 h 96636"/>
                <a:gd name="connsiteX1" fmla="*/ 144218 w 179016"/>
                <a:gd name="connsiteY1" fmla="*/ 0 h 96636"/>
                <a:gd name="connsiteX2" fmla="*/ 179016 w 179016"/>
                <a:gd name="connsiteY2" fmla="*/ 457 h 96636"/>
                <a:gd name="connsiteX3" fmla="*/ 179016 w 179016"/>
                <a:gd name="connsiteY3" fmla="*/ 96636 h 96636"/>
                <a:gd name="connsiteX4" fmla="*/ 0 w 179016"/>
                <a:gd name="connsiteY4" fmla="*/ 96636 h 96636"/>
                <a:gd name="connsiteX5" fmla="*/ 0 w 179016"/>
                <a:gd name="connsiteY5" fmla="*/ 457 h 9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9016" h="96636">
                  <a:moveTo>
                    <a:pt x="0" y="457"/>
                  </a:moveTo>
                  <a:lnTo>
                    <a:pt x="144218" y="0"/>
                  </a:lnTo>
                  <a:lnTo>
                    <a:pt x="179016" y="457"/>
                  </a:lnTo>
                  <a:lnTo>
                    <a:pt x="179016" y="96636"/>
                  </a:lnTo>
                  <a:lnTo>
                    <a:pt x="0" y="96636"/>
                  </a:lnTo>
                  <a:lnTo>
                    <a:pt x="0" y="457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FPc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2A544DCF-0A31-17F5-0FA3-25FAEA1E4FB6}"/>
                </a:ext>
              </a:extLst>
            </p:cNvPr>
            <p:cNvSpPr/>
            <p:nvPr/>
          </p:nvSpPr>
          <p:spPr>
            <a:xfrm rot="16200000">
              <a:off x="169798" y="1336310"/>
              <a:ext cx="179016" cy="96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FPd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25ADA269-2E37-13EC-2D10-340E65C09298}"/>
                </a:ext>
              </a:extLst>
            </p:cNvPr>
            <p:cNvSpPr/>
            <p:nvPr/>
          </p:nvSpPr>
          <p:spPr>
            <a:xfrm rot="16200000">
              <a:off x="265610" y="1336310"/>
              <a:ext cx="179016" cy="96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D23B4612-BF48-4061-F748-876579E1D53A}"/>
                </a:ext>
              </a:extLst>
            </p:cNvPr>
            <p:cNvSpPr/>
            <p:nvPr/>
          </p:nvSpPr>
          <p:spPr>
            <a:xfrm rot="16200000">
              <a:off x="360387" y="1336310"/>
              <a:ext cx="179016" cy="96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DA39CA3-3E5B-D12D-14C0-780D0719F492}"/>
                </a:ext>
              </a:extLst>
            </p:cNvPr>
            <p:cNvSpPr/>
            <p:nvPr/>
          </p:nvSpPr>
          <p:spPr>
            <a:xfrm>
              <a:off x="497391" y="1294891"/>
              <a:ext cx="553787" cy="179017"/>
            </a:xfrm>
            <a:custGeom>
              <a:avLst/>
              <a:gdLst>
                <a:gd name="connsiteX0" fmla="*/ 0 w 132795"/>
                <a:gd name="connsiteY0" fmla="*/ 0 h 179017"/>
                <a:gd name="connsiteX1" fmla="*/ 132795 w 132795"/>
                <a:gd name="connsiteY1" fmla="*/ 0 h 179017"/>
                <a:gd name="connsiteX2" fmla="*/ 132795 w 132795"/>
                <a:gd name="connsiteY2" fmla="*/ 179017 h 179017"/>
                <a:gd name="connsiteX3" fmla="*/ 0 w 132795"/>
                <a:gd name="connsiteY3" fmla="*/ 179017 h 179017"/>
                <a:gd name="connsiteX4" fmla="*/ 0 w 132795"/>
                <a:gd name="connsiteY4" fmla="*/ 0 h 179017"/>
                <a:gd name="connsiteX0" fmla="*/ 0 w 132941"/>
                <a:gd name="connsiteY0" fmla="*/ 0 h 179017"/>
                <a:gd name="connsiteX1" fmla="*/ 132795 w 132941"/>
                <a:gd name="connsiteY1" fmla="*/ 0 h 179017"/>
                <a:gd name="connsiteX2" fmla="*/ 132941 w 132941"/>
                <a:gd name="connsiteY2" fmla="*/ 36704 h 179017"/>
                <a:gd name="connsiteX3" fmla="*/ 132795 w 132941"/>
                <a:gd name="connsiteY3" fmla="*/ 179017 h 179017"/>
                <a:gd name="connsiteX4" fmla="*/ 0 w 132941"/>
                <a:gd name="connsiteY4" fmla="*/ 179017 h 179017"/>
                <a:gd name="connsiteX5" fmla="*/ 0 w 132941"/>
                <a:gd name="connsiteY5" fmla="*/ 0 h 17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941" h="179017">
                  <a:moveTo>
                    <a:pt x="0" y="0"/>
                  </a:moveTo>
                  <a:lnTo>
                    <a:pt x="132795" y="0"/>
                  </a:lnTo>
                  <a:cubicBezTo>
                    <a:pt x="132844" y="12235"/>
                    <a:pt x="132892" y="24469"/>
                    <a:pt x="132941" y="36704"/>
                  </a:cubicBezTo>
                  <a:cubicBezTo>
                    <a:pt x="132892" y="84142"/>
                    <a:pt x="132844" y="131579"/>
                    <a:pt x="132795" y="179017"/>
                  </a:cubicBezTo>
                  <a:lnTo>
                    <a:pt x="0" y="1790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···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44943802-1677-672B-BD16-170E925EC56B}"/>
                </a:ext>
              </a:extLst>
            </p:cNvPr>
            <p:cNvCxnSpPr>
              <a:cxnSpLocks/>
              <a:stCxn id="8" idx="3"/>
              <a:endCxn id="211" idx="1"/>
            </p:cNvCxnSpPr>
            <p:nvPr/>
          </p:nvCxnSpPr>
          <p:spPr>
            <a:xfrm>
              <a:off x="883418" y="1229360"/>
              <a:ext cx="167152" cy="65531"/>
            </a:xfrm>
            <a:prstGeom prst="straightConnector1">
              <a:avLst/>
            </a:prstGeom>
            <a:ln w="6350"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1F778B06-358F-0CE3-036A-1FD61F4CC7B1}"/>
                </a:ext>
              </a:extLst>
            </p:cNvPr>
            <p:cNvCxnSpPr>
              <a:cxnSpLocks/>
              <a:stCxn id="8" idx="4"/>
              <a:endCxn id="203" idx="2"/>
            </p:cNvCxnSpPr>
            <p:nvPr/>
          </p:nvCxnSpPr>
          <p:spPr>
            <a:xfrm flipH="1">
              <a:off x="116439" y="1229360"/>
              <a:ext cx="160885" cy="65532"/>
            </a:xfrm>
            <a:prstGeom prst="straightConnector1">
              <a:avLst/>
            </a:prstGeom>
            <a:ln w="6350"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E4FA83D2-CD7E-F25D-FF16-444188D5A6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616" y="273319"/>
              <a:ext cx="2085041" cy="0"/>
            </a:xfrm>
            <a:prstGeom prst="straightConnector1">
              <a:avLst/>
            </a:prstGeom>
            <a:ln w="6350">
              <a:prstDash val="dash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F7BEF728-B687-7381-E5A8-97B2D7B91F84}"/>
                </a:ext>
              </a:extLst>
            </p:cNvPr>
            <p:cNvSpPr/>
            <p:nvPr/>
          </p:nvSpPr>
          <p:spPr>
            <a:xfrm>
              <a:off x="459037" y="201416"/>
              <a:ext cx="1400949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File System Interface (write/read)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7EEE11D1-8F2B-8387-FCD2-0967EF186D74}"/>
                </a:ext>
              </a:extLst>
            </p:cNvPr>
            <p:cNvSpPr/>
            <p:nvPr/>
          </p:nvSpPr>
          <p:spPr>
            <a:xfrm>
              <a:off x="307028" y="182092"/>
              <a:ext cx="101920" cy="172765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箭头: 下 230">
              <a:extLst>
                <a:ext uri="{FF2B5EF4-FFF2-40B4-BE49-F238E27FC236}">
                  <a16:creationId xmlns:a16="http://schemas.microsoft.com/office/drawing/2014/main" id="{9D0F6EAA-D2BE-9FBB-39E5-B8E1302A914E}"/>
                </a:ext>
              </a:extLst>
            </p:cNvPr>
            <p:cNvSpPr/>
            <p:nvPr/>
          </p:nvSpPr>
          <p:spPr>
            <a:xfrm flipV="1">
              <a:off x="1912165" y="186782"/>
              <a:ext cx="101920" cy="168073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AE54AD5A-611D-8760-C7C9-4E9B64D51EDF}"/>
                </a:ext>
              </a:extLst>
            </p:cNvPr>
            <p:cNvSpPr/>
            <p:nvPr/>
          </p:nvSpPr>
          <p:spPr>
            <a:xfrm>
              <a:off x="2400170" y="272875"/>
              <a:ext cx="195586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B3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E2783BE4-926F-B252-4E06-8573B3B10BBF}"/>
                </a:ext>
              </a:extLst>
            </p:cNvPr>
            <p:cNvSpPr/>
            <p:nvPr/>
          </p:nvSpPr>
          <p:spPr>
            <a:xfrm>
              <a:off x="2655786" y="265813"/>
              <a:ext cx="476730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Data Block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1B58DB82-F95F-DF2F-7743-AF9242D2FF4D}"/>
                </a:ext>
              </a:extLst>
            </p:cNvPr>
            <p:cNvSpPr/>
            <p:nvPr/>
          </p:nvSpPr>
          <p:spPr>
            <a:xfrm>
              <a:off x="2338314" y="89675"/>
              <a:ext cx="476730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Legends: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61819310-5AA3-FC00-2421-EE327FCF6822}"/>
                </a:ext>
              </a:extLst>
            </p:cNvPr>
            <p:cNvSpPr/>
            <p:nvPr/>
          </p:nvSpPr>
          <p:spPr>
            <a:xfrm rot="16200000">
              <a:off x="2409869" y="512810"/>
              <a:ext cx="179016" cy="1226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FPb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1F9C44E2-C76C-BF33-5F57-38C3830644DC}"/>
                </a:ext>
              </a:extLst>
            </p:cNvPr>
            <p:cNvSpPr/>
            <p:nvPr/>
          </p:nvSpPr>
          <p:spPr>
            <a:xfrm>
              <a:off x="2655786" y="505846"/>
              <a:ext cx="476730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FDM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68B57496-A527-233B-0B93-9B31D91ED9E0}"/>
                </a:ext>
              </a:extLst>
            </p:cNvPr>
            <p:cNvCxnSpPr>
              <a:cxnSpLocks/>
            </p:cNvCxnSpPr>
            <p:nvPr/>
          </p:nvCxnSpPr>
          <p:spPr>
            <a:xfrm>
              <a:off x="2400170" y="815200"/>
              <a:ext cx="195586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DA860A1C-ECF5-4EC4-5DD2-5925C4C92303}"/>
                </a:ext>
              </a:extLst>
            </p:cNvPr>
            <p:cNvSpPr/>
            <p:nvPr/>
          </p:nvSpPr>
          <p:spPr>
            <a:xfrm>
              <a:off x="2655786" y="739482"/>
              <a:ext cx="476730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FS Pointer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FA715637-4609-226B-78BB-E41500EDFB83}"/>
                </a:ext>
              </a:extLst>
            </p:cNvPr>
            <p:cNvSpPr/>
            <p:nvPr/>
          </p:nvSpPr>
          <p:spPr>
            <a:xfrm>
              <a:off x="2398545" y="956431"/>
              <a:ext cx="196706" cy="136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FP: 2 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2C4D40DD-8C91-6A8B-5603-CDDB651E3255}"/>
                </a:ext>
              </a:extLst>
            </p:cNvPr>
            <p:cNvSpPr/>
            <p:nvPr/>
          </p:nvSpPr>
          <p:spPr>
            <a:xfrm>
              <a:off x="2655786" y="956431"/>
              <a:ext cx="476730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FP2P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65" name="矩形 202">
              <a:extLst>
                <a:ext uri="{FF2B5EF4-FFF2-40B4-BE49-F238E27FC236}">
                  <a16:creationId xmlns:a16="http://schemas.microsoft.com/office/drawing/2014/main" id="{30D6BBF5-2A31-1A31-986C-B403BCBD0F42}"/>
                </a:ext>
              </a:extLst>
            </p:cNvPr>
            <p:cNvSpPr/>
            <p:nvPr/>
          </p:nvSpPr>
          <p:spPr>
            <a:xfrm rot="16200000">
              <a:off x="2428303" y="1226657"/>
              <a:ext cx="179016" cy="123261"/>
            </a:xfrm>
            <a:custGeom>
              <a:avLst/>
              <a:gdLst>
                <a:gd name="connsiteX0" fmla="*/ 0 w 179016"/>
                <a:gd name="connsiteY0" fmla="*/ 0 h 96179"/>
                <a:gd name="connsiteX1" fmla="*/ 179016 w 179016"/>
                <a:gd name="connsiteY1" fmla="*/ 0 h 96179"/>
                <a:gd name="connsiteX2" fmla="*/ 179016 w 179016"/>
                <a:gd name="connsiteY2" fmla="*/ 96179 h 96179"/>
                <a:gd name="connsiteX3" fmla="*/ 0 w 179016"/>
                <a:gd name="connsiteY3" fmla="*/ 96179 h 96179"/>
                <a:gd name="connsiteX4" fmla="*/ 0 w 179016"/>
                <a:gd name="connsiteY4" fmla="*/ 0 h 96179"/>
                <a:gd name="connsiteX0" fmla="*/ 0 w 179016"/>
                <a:gd name="connsiteY0" fmla="*/ 457 h 96636"/>
                <a:gd name="connsiteX1" fmla="*/ 144218 w 179016"/>
                <a:gd name="connsiteY1" fmla="*/ 0 h 96636"/>
                <a:gd name="connsiteX2" fmla="*/ 179016 w 179016"/>
                <a:gd name="connsiteY2" fmla="*/ 457 h 96636"/>
                <a:gd name="connsiteX3" fmla="*/ 179016 w 179016"/>
                <a:gd name="connsiteY3" fmla="*/ 96636 h 96636"/>
                <a:gd name="connsiteX4" fmla="*/ 0 w 179016"/>
                <a:gd name="connsiteY4" fmla="*/ 96636 h 96636"/>
                <a:gd name="connsiteX5" fmla="*/ 0 w 179016"/>
                <a:gd name="connsiteY5" fmla="*/ 457 h 9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9016" h="96636">
                  <a:moveTo>
                    <a:pt x="0" y="457"/>
                  </a:moveTo>
                  <a:lnTo>
                    <a:pt x="144218" y="0"/>
                  </a:lnTo>
                  <a:lnTo>
                    <a:pt x="179016" y="457"/>
                  </a:lnTo>
                  <a:lnTo>
                    <a:pt x="179016" y="96636"/>
                  </a:lnTo>
                  <a:lnTo>
                    <a:pt x="0" y="96636"/>
                  </a:lnTo>
                  <a:lnTo>
                    <a:pt x="0" y="457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</a:rPr>
                <a:t>FPc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CDBDE451-5489-3A4C-BA0C-238E5EC41C9B}"/>
                </a:ext>
              </a:extLst>
            </p:cNvPr>
            <p:cNvSpPr/>
            <p:nvPr/>
          </p:nvSpPr>
          <p:spPr>
            <a:xfrm>
              <a:off x="2667184" y="1211482"/>
              <a:ext cx="476730" cy="136602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FP Value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65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矩形: 圆角 262">
            <a:extLst>
              <a:ext uri="{FF2B5EF4-FFF2-40B4-BE49-F238E27FC236}">
                <a16:creationId xmlns:a16="http://schemas.microsoft.com/office/drawing/2014/main" id="{20568FF3-F533-DAC7-6D2F-0A31D88D7A50}"/>
              </a:ext>
            </a:extLst>
          </p:cNvPr>
          <p:cNvSpPr/>
          <p:nvPr/>
        </p:nvSpPr>
        <p:spPr>
          <a:xfrm>
            <a:off x="2393301" y="-50580"/>
            <a:ext cx="799059" cy="1429760"/>
          </a:xfrm>
          <a:prstGeom prst="roundRect">
            <a:avLst>
              <a:gd name="adj" fmla="val 4674"/>
            </a:avLst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F8D0B7-48B3-C320-8EE7-CB770F26638F}"/>
              </a:ext>
            </a:extLst>
          </p:cNvPr>
          <p:cNvSpPr/>
          <p:nvPr/>
        </p:nvSpPr>
        <p:spPr>
          <a:xfrm>
            <a:off x="210786" y="-66199"/>
            <a:ext cx="2087882" cy="13239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Applications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339C6-FC1E-6707-635C-35DC7A1985E9}"/>
              </a:ext>
            </a:extLst>
          </p:cNvPr>
          <p:cNvSpPr/>
          <p:nvPr/>
        </p:nvSpPr>
        <p:spPr>
          <a:xfrm>
            <a:off x="210787" y="906248"/>
            <a:ext cx="932100" cy="253095"/>
          </a:xfrm>
          <a:custGeom>
            <a:avLst/>
            <a:gdLst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0 w 515621"/>
              <a:gd name="connsiteY3" fmla="*/ 253095 h 253095"/>
              <a:gd name="connsiteX4" fmla="*/ 0 w 515621"/>
              <a:gd name="connsiteY4" fmla="*/ 0 h 253095"/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88901 w 515621"/>
              <a:gd name="connsiteY3" fmla="*/ 250999 h 253095"/>
              <a:gd name="connsiteX4" fmla="*/ 0 w 515621"/>
              <a:gd name="connsiteY4" fmla="*/ 253095 h 253095"/>
              <a:gd name="connsiteX5" fmla="*/ 0 w 515621"/>
              <a:gd name="connsiteY5" fmla="*/ 0 h 253095"/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424181 w 515621"/>
              <a:gd name="connsiteY3" fmla="*/ 250999 h 253095"/>
              <a:gd name="connsiteX4" fmla="*/ 88901 w 515621"/>
              <a:gd name="connsiteY4" fmla="*/ 250999 h 253095"/>
              <a:gd name="connsiteX5" fmla="*/ 0 w 515621"/>
              <a:gd name="connsiteY5" fmla="*/ 253095 h 253095"/>
              <a:gd name="connsiteX6" fmla="*/ 0 w 515621"/>
              <a:gd name="connsiteY6" fmla="*/ 0 h 25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621" h="253095">
                <a:moveTo>
                  <a:pt x="0" y="0"/>
                </a:moveTo>
                <a:lnTo>
                  <a:pt x="515621" y="0"/>
                </a:lnTo>
                <a:lnTo>
                  <a:pt x="515621" y="253095"/>
                </a:lnTo>
                <a:lnTo>
                  <a:pt x="424181" y="250999"/>
                </a:lnTo>
                <a:lnTo>
                  <a:pt x="88901" y="250999"/>
                </a:lnTo>
                <a:lnTo>
                  <a:pt x="0" y="25309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Overflow FP Table (OFT)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765D8C-5C91-3C84-12EE-2729A1543627}"/>
              </a:ext>
            </a:extLst>
          </p:cNvPr>
          <p:cNvSpPr/>
          <p:nvPr/>
        </p:nvSpPr>
        <p:spPr>
          <a:xfrm>
            <a:off x="1140422" y="906248"/>
            <a:ext cx="1158246" cy="2530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卷形: 垂直 23">
            <a:extLst>
              <a:ext uri="{FF2B5EF4-FFF2-40B4-BE49-F238E27FC236}">
                <a16:creationId xmlns:a16="http://schemas.microsoft.com/office/drawing/2014/main" id="{805C62E6-327B-243E-A0D6-1DBDC76D6E18}"/>
              </a:ext>
            </a:extLst>
          </p:cNvPr>
          <p:cNvSpPr/>
          <p:nvPr/>
        </p:nvSpPr>
        <p:spPr>
          <a:xfrm>
            <a:off x="1205431" y="510141"/>
            <a:ext cx="314971" cy="293799"/>
          </a:xfrm>
          <a:prstGeom prst="verticalScroll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Inode 1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5" name="卷形: 垂直 24">
            <a:extLst>
              <a:ext uri="{FF2B5EF4-FFF2-40B4-BE49-F238E27FC236}">
                <a16:creationId xmlns:a16="http://schemas.microsoft.com/office/drawing/2014/main" id="{F8728257-F4D7-0EED-A953-0C7E6B5331BC}"/>
              </a:ext>
            </a:extLst>
          </p:cNvPr>
          <p:cNvSpPr/>
          <p:nvPr/>
        </p:nvSpPr>
        <p:spPr>
          <a:xfrm>
            <a:off x="1605239" y="510141"/>
            <a:ext cx="314971" cy="293799"/>
          </a:xfrm>
          <a:prstGeom prst="verticalScroll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Inode 2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923651-7235-2DAF-B20A-A71B2627AD5F}"/>
              </a:ext>
            </a:extLst>
          </p:cNvPr>
          <p:cNvSpPr/>
          <p:nvPr/>
        </p:nvSpPr>
        <p:spPr>
          <a:xfrm>
            <a:off x="210786" y="310815"/>
            <a:ext cx="929636" cy="49312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EDF130-1220-94C9-6CF6-2EB1F983513D}"/>
              </a:ext>
            </a:extLst>
          </p:cNvPr>
          <p:cNvSpPr/>
          <p:nvPr/>
        </p:nvSpPr>
        <p:spPr>
          <a:xfrm>
            <a:off x="1231013" y="310434"/>
            <a:ext cx="1064815" cy="136602"/>
          </a:xfrm>
          <a:prstGeom prst="rect">
            <a:avLst/>
          </a:prstGeom>
          <a:solidFill>
            <a:srgbClr val="D9D9D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Duplication Identifier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F386886-A383-6EF3-C16E-7B58EE5A82F9}"/>
              </a:ext>
            </a:extLst>
          </p:cNvPr>
          <p:cNvSpPr/>
          <p:nvPr/>
        </p:nvSpPr>
        <p:spPr>
          <a:xfrm>
            <a:off x="1224843" y="1272255"/>
            <a:ext cx="195586" cy="12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FEC32CA-F69B-BA55-41DB-44FB42030819}"/>
              </a:ext>
            </a:extLst>
          </p:cNvPr>
          <p:cNvSpPr/>
          <p:nvPr/>
        </p:nvSpPr>
        <p:spPr>
          <a:xfrm>
            <a:off x="1498154" y="1272255"/>
            <a:ext cx="195586" cy="12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D3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21A8341-9AED-A650-F9CD-7CB4944D8049}"/>
              </a:ext>
            </a:extLst>
          </p:cNvPr>
          <p:cNvSpPr/>
          <p:nvPr/>
        </p:nvSpPr>
        <p:spPr>
          <a:xfrm>
            <a:off x="1750697" y="1272255"/>
            <a:ext cx="195586" cy="12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D5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78EAFD1-999F-BB9C-B629-84CD0DFD62D9}"/>
              </a:ext>
            </a:extLst>
          </p:cNvPr>
          <p:cNvCxnSpPr>
            <a:cxnSpLocks/>
            <a:stCxn id="122" idx="1"/>
            <a:endCxn id="66" idx="0"/>
          </p:cNvCxnSpPr>
          <p:nvPr/>
        </p:nvCxnSpPr>
        <p:spPr>
          <a:xfrm>
            <a:off x="1274409" y="1124999"/>
            <a:ext cx="48227" cy="147256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C897B838-7AD2-8C68-86BE-713681254606}"/>
              </a:ext>
            </a:extLst>
          </p:cNvPr>
          <p:cNvCxnSpPr>
            <a:cxnSpLocks/>
            <a:stCxn id="123" idx="1"/>
            <a:endCxn id="66" idx="0"/>
          </p:cNvCxnSpPr>
          <p:nvPr/>
        </p:nvCxnSpPr>
        <p:spPr>
          <a:xfrm flipH="1">
            <a:off x="1322636" y="1124999"/>
            <a:ext cx="111320" cy="147256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248C95D-4CFA-6293-9FDE-8E7CA179EA69}"/>
              </a:ext>
            </a:extLst>
          </p:cNvPr>
          <p:cNvCxnSpPr>
            <a:cxnSpLocks/>
            <a:stCxn id="124" idx="1"/>
            <a:endCxn id="67" idx="0"/>
          </p:cNvCxnSpPr>
          <p:nvPr/>
        </p:nvCxnSpPr>
        <p:spPr>
          <a:xfrm flipH="1">
            <a:off x="1595947" y="1124999"/>
            <a:ext cx="18299" cy="147256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87FABAF-ED4A-4B44-4ACD-C09A9838943A}"/>
              </a:ext>
            </a:extLst>
          </p:cNvPr>
          <p:cNvCxnSpPr>
            <a:cxnSpLocks/>
            <a:stCxn id="125" idx="1"/>
            <a:endCxn id="67" idx="0"/>
          </p:cNvCxnSpPr>
          <p:nvPr/>
        </p:nvCxnSpPr>
        <p:spPr>
          <a:xfrm flipH="1">
            <a:off x="1595947" y="1124999"/>
            <a:ext cx="193192" cy="147256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D6426A0D-9AD4-F6E0-0AE4-54F9FF3961A0}"/>
              </a:ext>
            </a:extLst>
          </p:cNvPr>
          <p:cNvCxnSpPr>
            <a:cxnSpLocks/>
            <a:stCxn id="126" idx="1"/>
            <a:endCxn id="68" idx="0"/>
          </p:cNvCxnSpPr>
          <p:nvPr/>
        </p:nvCxnSpPr>
        <p:spPr>
          <a:xfrm flipH="1">
            <a:off x="1848490" y="1124999"/>
            <a:ext cx="122498" cy="147256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15FC2316-F696-37D4-F724-D95567A43B3F}"/>
              </a:ext>
            </a:extLst>
          </p:cNvPr>
          <p:cNvSpPr/>
          <p:nvPr/>
        </p:nvSpPr>
        <p:spPr>
          <a:xfrm rot="16200000">
            <a:off x="1184900" y="987401"/>
            <a:ext cx="179016" cy="9617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67E0488-915F-367E-CD17-1EDB75139F3C}"/>
              </a:ext>
            </a:extLst>
          </p:cNvPr>
          <p:cNvSpPr/>
          <p:nvPr/>
        </p:nvSpPr>
        <p:spPr>
          <a:xfrm rot="16200000">
            <a:off x="1344447" y="987401"/>
            <a:ext cx="179016" cy="9617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AA50391-74CF-849E-C45E-98364C414627}"/>
              </a:ext>
            </a:extLst>
          </p:cNvPr>
          <p:cNvSpPr/>
          <p:nvPr/>
        </p:nvSpPr>
        <p:spPr>
          <a:xfrm rot="16200000">
            <a:off x="1524737" y="987401"/>
            <a:ext cx="179016" cy="9617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59E6220-26FB-5910-8801-78F91E9E24F7}"/>
              </a:ext>
            </a:extLst>
          </p:cNvPr>
          <p:cNvSpPr/>
          <p:nvPr/>
        </p:nvSpPr>
        <p:spPr>
          <a:xfrm rot="16200000">
            <a:off x="1699630" y="987401"/>
            <a:ext cx="179016" cy="9617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E1A6C3B-C024-A69B-20AA-8255FDB3509D}"/>
              </a:ext>
            </a:extLst>
          </p:cNvPr>
          <p:cNvSpPr/>
          <p:nvPr/>
        </p:nvSpPr>
        <p:spPr>
          <a:xfrm rot="16200000">
            <a:off x="1881479" y="987401"/>
            <a:ext cx="179016" cy="9617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FPb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FB759110-F559-DCAC-5FA4-578DD42468E7}"/>
              </a:ext>
            </a:extLst>
          </p:cNvPr>
          <p:cNvCxnSpPr>
            <a:cxnSpLocks/>
            <a:stCxn id="24" idx="2"/>
            <a:endCxn id="122" idx="3"/>
          </p:cNvCxnSpPr>
          <p:nvPr/>
        </p:nvCxnSpPr>
        <p:spPr>
          <a:xfrm flipH="1">
            <a:off x="1274409" y="803940"/>
            <a:ext cx="88508" cy="14204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D907E90-D80A-34BB-F9AE-7A5B5DDFDB4B}"/>
              </a:ext>
            </a:extLst>
          </p:cNvPr>
          <p:cNvCxnSpPr>
            <a:cxnSpLocks/>
            <a:stCxn id="24" idx="2"/>
            <a:endCxn id="124" idx="3"/>
          </p:cNvCxnSpPr>
          <p:nvPr/>
        </p:nvCxnSpPr>
        <p:spPr>
          <a:xfrm>
            <a:off x="1362917" y="803940"/>
            <a:ext cx="251329" cy="14204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61FEEE96-10DB-430D-C7E3-CDCB77A994E7}"/>
              </a:ext>
            </a:extLst>
          </p:cNvPr>
          <p:cNvSpPr/>
          <p:nvPr/>
        </p:nvSpPr>
        <p:spPr>
          <a:xfrm>
            <a:off x="265741" y="640719"/>
            <a:ext cx="279331" cy="12505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D3: 2 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29CFABEA-C471-5AE4-C586-FB8BA3F6A9A5}"/>
              </a:ext>
            </a:extLst>
          </p:cNvPr>
          <p:cNvSpPr/>
          <p:nvPr/>
        </p:nvSpPr>
        <p:spPr>
          <a:xfrm>
            <a:off x="584826" y="640719"/>
            <a:ext cx="279331" cy="12505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D5: 1 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792B810-E926-FDB8-DDA1-1F0B80C2343A}"/>
              </a:ext>
            </a:extLst>
          </p:cNvPr>
          <p:cNvSpPr/>
          <p:nvPr/>
        </p:nvSpPr>
        <p:spPr>
          <a:xfrm>
            <a:off x="907950" y="641969"/>
            <a:ext cx="164641" cy="12126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···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125AB794-FFA4-01AA-B8C1-C7ACF9F7F984}"/>
              </a:ext>
            </a:extLst>
          </p:cNvPr>
          <p:cNvSpPr/>
          <p:nvPr/>
        </p:nvSpPr>
        <p:spPr>
          <a:xfrm>
            <a:off x="210787" y="323425"/>
            <a:ext cx="929635" cy="13660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Global FP Index (GFI)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83" name="卷形: 垂直 182">
            <a:extLst>
              <a:ext uri="{FF2B5EF4-FFF2-40B4-BE49-F238E27FC236}">
                <a16:creationId xmlns:a16="http://schemas.microsoft.com/office/drawing/2014/main" id="{D98151E3-4547-6D75-977A-B76A862336C2}"/>
              </a:ext>
            </a:extLst>
          </p:cNvPr>
          <p:cNvSpPr/>
          <p:nvPr/>
        </p:nvSpPr>
        <p:spPr>
          <a:xfrm>
            <a:off x="1980857" y="510140"/>
            <a:ext cx="314971" cy="289172"/>
          </a:xfrm>
          <a:prstGeom prst="verticalScroll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Inode 3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4D18B440-5BE0-D08F-D37B-9611C2D96092}"/>
              </a:ext>
            </a:extLst>
          </p:cNvPr>
          <p:cNvCxnSpPr>
            <a:cxnSpLocks/>
            <a:stCxn id="183" idx="2"/>
            <a:endCxn id="189" idx="3"/>
          </p:cNvCxnSpPr>
          <p:nvPr/>
        </p:nvCxnSpPr>
        <p:spPr>
          <a:xfrm>
            <a:off x="2138343" y="799312"/>
            <a:ext cx="0" cy="146672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id="{AF9CBA8F-FC92-E22C-4548-07BF741C693C}"/>
              </a:ext>
            </a:extLst>
          </p:cNvPr>
          <p:cNvSpPr/>
          <p:nvPr/>
        </p:nvSpPr>
        <p:spPr>
          <a:xfrm rot="16200000">
            <a:off x="2048834" y="987402"/>
            <a:ext cx="179016" cy="9617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NIL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8ADBC878-EC30-6032-761C-934C393D6C32}"/>
              </a:ext>
            </a:extLst>
          </p:cNvPr>
          <p:cNvSpPr/>
          <p:nvPr/>
        </p:nvSpPr>
        <p:spPr>
          <a:xfrm>
            <a:off x="1979333" y="1272255"/>
            <a:ext cx="318656" cy="12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D1-D2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2F28C0B2-67C8-B4CA-7B17-A8CC3178C100}"/>
              </a:ext>
            </a:extLst>
          </p:cNvPr>
          <p:cNvCxnSpPr>
            <a:cxnSpLocks/>
            <a:stCxn id="189" idx="1"/>
            <a:endCxn id="191" idx="0"/>
          </p:cNvCxnSpPr>
          <p:nvPr/>
        </p:nvCxnSpPr>
        <p:spPr>
          <a:xfrm>
            <a:off x="2138343" y="1125000"/>
            <a:ext cx="318" cy="147255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矩形 202">
            <a:extLst>
              <a:ext uri="{FF2B5EF4-FFF2-40B4-BE49-F238E27FC236}">
                <a16:creationId xmlns:a16="http://schemas.microsoft.com/office/drawing/2014/main" id="{BB405E19-7C90-7866-C77F-40F2F76857A0}"/>
              </a:ext>
            </a:extLst>
          </p:cNvPr>
          <p:cNvSpPr/>
          <p:nvPr/>
        </p:nvSpPr>
        <p:spPr>
          <a:xfrm rot="16200000">
            <a:off x="168963" y="1263969"/>
            <a:ext cx="179016" cy="96636"/>
          </a:xfrm>
          <a:custGeom>
            <a:avLst/>
            <a:gdLst>
              <a:gd name="connsiteX0" fmla="*/ 0 w 179016"/>
              <a:gd name="connsiteY0" fmla="*/ 0 h 96179"/>
              <a:gd name="connsiteX1" fmla="*/ 179016 w 179016"/>
              <a:gd name="connsiteY1" fmla="*/ 0 h 96179"/>
              <a:gd name="connsiteX2" fmla="*/ 179016 w 179016"/>
              <a:gd name="connsiteY2" fmla="*/ 96179 h 96179"/>
              <a:gd name="connsiteX3" fmla="*/ 0 w 179016"/>
              <a:gd name="connsiteY3" fmla="*/ 96179 h 96179"/>
              <a:gd name="connsiteX4" fmla="*/ 0 w 179016"/>
              <a:gd name="connsiteY4" fmla="*/ 0 h 96179"/>
              <a:gd name="connsiteX0" fmla="*/ 0 w 179016"/>
              <a:gd name="connsiteY0" fmla="*/ 457 h 96636"/>
              <a:gd name="connsiteX1" fmla="*/ 144218 w 179016"/>
              <a:gd name="connsiteY1" fmla="*/ 0 h 96636"/>
              <a:gd name="connsiteX2" fmla="*/ 179016 w 179016"/>
              <a:gd name="connsiteY2" fmla="*/ 457 h 96636"/>
              <a:gd name="connsiteX3" fmla="*/ 179016 w 179016"/>
              <a:gd name="connsiteY3" fmla="*/ 96636 h 96636"/>
              <a:gd name="connsiteX4" fmla="*/ 0 w 179016"/>
              <a:gd name="connsiteY4" fmla="*/ 96636 h 96636"/>
              <a:gd name="connsiteX5" fmla="*/ 0 w 179016"/>
              <a:gd name="connsiteY5" fmla="*/ 457 h 96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016" h="96636">
                <a:moveTo>
                  <a:pt x="0" y="457"/>
                </a:moveTo>
                <a:lnTo>
                  <a:pt x="144218" y="0"/>
                </a:lnTo>
                <a:lnTo>
                  <a:pt x="179016" y="457"/>
                </a:lnTo>
                <a:lnTo>
                  <a:pt x="179016" y="96636"/>
                </a:lnTo>
                <a:lnTo>
                  <a:pt x="0" y="96636"/>
                </a:lnTo>
                <a:lnTo>
                  <a:pt x="0" y="45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FPc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2A544DCF-0A31-17F5-0FA3-25FAEA1E4FB6}"/>
              </a:ext>
            </a:extLst>
          </p:cNvPr>
          <p:cNvSpPr/>
          <p:nvPr/>
        </p:nvSpPr>
        <p:spPr>
          <a:xfrm rot="16200000">
            <a:off x="263969" y="1264197"/>
            <a:ext cx="179016" cy="96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FPd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25ADA269-2E37-13EC-2D10-340E65C09298}"/>
              </a:ext>
            </a:extLst>
          </p:cNvPr>
          <p:cNvSpPr/>
          <p:nvPr/>
        </p:nvSpPr>
        <p:spPr>
          <a:xfrm rot="16200000">
            <a:off x="359781" y="1264197"/>
            <a:ext cx="179016" cy="96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D23B4612-BF48-4061-F748-876579E1D53A}"/>
              </a:ext>
            </a:extLst>
          </p:cNvPr>
          <p:cNvSpPr/>
          <p:nvPr/>
        </p:nvSpPr>
        <p:spPr>
          <a:xfrm rot="16200000">
            <a:off x="454558" y="1264197"/>
            <a:ext cx="179016" cy="96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4DA39CA3-3E5B-D12D-14C0-780D0719F492}"/>
              </a:ext>
            </a:extLst>
          </p:cNvPr>
          <p:cNvSpPr/>
          <p:nvPr/>
        </p:nvSpPr>
        <p:spPr>
          <a:xfrm>
            <a:off x="591562" y="1222778"/>
            <a:ext cx="553787" cy="179017"/>
          </a:xfrm>
          <a:custGeom>
            <a:avLst/>
            <a:gdLst>
              <a:gd name="connsiteX0" fmla="*/ 0 w 132795"/>
              <a:gd name="connsiteY0" fmla="*/ 0 h 179017"/>
              <a:gd name="connsiteX1" fmla="*/ 132795 w 132795"/>
              <a:gd name="connsiteY1" fmla="*/ 0 h 179017"/>
              <a:gd name="connsiteX2" fmla="*/ 132795 w 132795"/>
              <a:gd name="connsiteY2" fmla="*/ 179017 h 179017"/>
              <a:gd name="connsiteX3" fmla="*/ 0 w 132795"/>
              <a:gd name="connsiteY3" fmla="*/ 179017 h 179017"/>
              <a:gd name="connsiteX4" fmla="*/ 0 w 132795"/>
              <a:gd name="connsiteY4" fmla="*/ 0 h 179017"/>
              <a:gd name="connsiteX0" fmla="*/ 0 w 132941"/>
              <a:gd name="connsiteY0" fmla="*/ 0 h 179017"/>
              <a:gd name="connsiteX1" fmla="*/ 132795 w 132941"/>
              <a:gd name="connsiteY1" fmla="*/ 0 h 179017"/>
              <a:gd name="connsiteX2" fmla="*/ 132941 w 132941"/>
              <a:gd name="connsiteY2" fmla="*/ 36704 h 179017"/>
              <a:gd name="connsiteX3" fmla="*/ 132795 w 132941"/>
              <a:gd name="connsiteY3" fmla="*/ 179017 h 179017"/>
              <a:gd name="connsiteX4" fmla="*/ 0 w 132941"/>
              <a:gd name="connsiteY4" fmla="*/ 179017 h 179017"/>
              <a:gd name="connsiteX5" fmla="*/ 0 w 132941"/>
              <a:gd name="connsiteY5" fmla="*/ 0 h 17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941" h="179017">
                <a:moveTo>
                  <a:pt x="0" y="0"/>
                </a:moveTo>
                <a:lnTo>
                  <a:pt x="132795" y="0"/>
                </a:lnTo>
                <a:cubicBezTo>
                  <a:pt x="132844" y="12235"/>
                  <a:pt x="132892" y="24469"/>
                  <a:pt x="132941" y="36704"/>
                </a:cubicBezTo>
                <a:cubicBezTo>
                  <a:pt x="132892" y="84142"/>
                  <a:pt x="132844" y="131579"/>
                  <a:pt x="132795" y="179017"/>
                </a:cubicBezTo>
                <a:lnTo>
                  <a:pt x="0" y="17901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···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44943802-1677-672B-BD16-170E925EC56B}"/>
              </a:ext>
            </a:extLst>
          </p:cNvPr>
          <p:cNvCxnSpPr>
            <a:cxnSpLocks/>
            <a:stCxn id="8" idx="3"/>
            <a:endCxn id="211" idx="1"/>
          </p:cNvCxnSpPr>
          <p:nvPr/>
        </p:nvCxnSpPr>
        <p:spPr>
          <a:xfrm>
            <a:off x="977589" y="1157247"/>
            <a:ext cx="167152" cy="65531"/>
          </a:xfrm>
          <a:prstGeom prst="straightConnector1">
            <a:avLst/>
          </a:prstGeom>
          <a:ln w="6350"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1F778B06-358F-0CE3-036A-1FD61F4CC7B1}"/>
              </a:ext>
            </a:extLst>
          </p:cNvPr>
          <p:cNvCxnSpPr>
            <a:cxnSpLocks/>
            <a:stCxn id="8" idx="4"/>
            <a:endCxn id="203" idx="2"/>
          </p:cNvCxnSpPr>
          <p:nvPr/>
        </p:nvCxnSpPr>
        <p:spPr>
          <a:xfrm flipH="1">
            <a:off x="210610" y="1157247"/>
            <a:ext cx="160885" cy="65532"/>
          </a:xfrm>
          <a:prstGeom prst="straightConnector1">
            <a:avLst/>
          </a:prstGeom>
          <a:ln w="6350"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E4FA83D2-CD7E-F25D-FF16-444188D5A660}"/>
              </a:ext>
            </a:extLst>
          </p:cNvPr>
          <p:cNvCxnSpPr>
            <a:cxnSpLocks/>
          </p:cNvCxnSpPr>
          <p:nvPr/>
        </p:nvCxnSpPr>
        <p:spPr>
          <a:xfrm flipH="1">
            <a:off x="10160" y="201206"/>
            <a:ext cx="2285668" cy="0"/>
          </a:xfrm>
          <a:prstGeom prst="straightConnector1">
            <a:avLst/>
          </a:prstGeom>
          <a:ln w="6350">
            <a:prstDash val="dash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F7BEF728-B687-7381-E5A8-97B2D7B91F84}"/>
              </a:ext>
            </a:extLst>
          </p:cNvPr>
          <p:cNvSpPr/>
          <p:nvPr/>
        </p:nvSpPr>
        <p:spPr>
          <a:xfrm>
            <a:off x="553208" y="129303"/>
            <a:ext cx="1400949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File System Interface (write/read)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30" name="箭头: 下 229">
            <a:extLst>
              <a:ext uri="{FF2B5EF4-FFF2-40B4-BE49-F238E27FC236}">
                <a16:creationId xmlns:a16="http://schemas.microsoft.com/office/drawing/2014/main" id="{7EEE11D1-8F2B-8387-FCD2-0967EF186D74}"/>
              </a:ext>
            </a:extLst>
          </p:cNvPr>
          <p:cNvSpPr/>
          <p:nvPr/>
        </p:nvSpPr>
        <p:spPr>
          <a:xfrm>
            <a:off x="401199" y="109979"/>
            <a:ext cx="101920" cy="172765"/>
          </a:xfrm>
          <a:prstGeom prst="down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箭头: 下 230">
            <a:extLst>
              <a:ext uri="{FF2B5EF4-FFF2-40B4-BE49-F238E27FC236}">
                <a16:creationId xmlns:a16="http://schemas.microsoft.com/office/drawing/2014/main" id="{9D0F6EAA-D2BE-9FBB-39E5-B8E1302A914E}"/>
              </a:ext>
            </a:extLst>
          </p:cNvPr>
          <p:cNvSpPr/>
          <p:nvPr/>
        </p:nvSpPr>
        <p:spPr>
          <a:xfrm flipV="1">
            <a:off x="2006336" y="114669"/>
            <a:ext cx="101920" cy="168073"/>
          </a:xfrm>
          <a:prstGeom prst="down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E54AD5A-611D-8760-C7C9-4E9B64D51EDF}"/>
              </a:ext>
            </a:extLst>
          </p:cNvPr>
          <p:cNvSpPr/>
          <p:nvPr/>
        </p:nvSpPr>
        <p:spPr>
          <a:xfrm>
            <a:off x="2454819" y="200762"/>
            <a:ext cx="195586" cy="12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D3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E2783BE4-926F-B252-4E06-8573B3B10BBF}"/>
              </a:ext>
            </a:extLst>
          </p:cNvPr>
          <p:cNvSpPr/>
          <p:nvPr/>
        </p:nvSpPr>
        <p:spPr>
          <a:xfrm>
            <a:off x="2710435" y="193700"/>
            <a:ext cx="476730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800" dirty="0">
                <a:solidFill>
                  <a:schemeClr val="tx1"/>
                </a:solidFill>
              </a:rPr>
              <a:t>Data Block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1B58DB82-F95F-DF2F-7743-AF9242D2FF4D}"/>
              </a:ext>
            </a:extLst>
          </p:cNvPr>
          <p:cNvSpPr/>
          <p:nvPr/>
        </p:nvSpPr>
        <p:spPr>
          <a:xfrm>
            <a:off x="2428774" y="17562"/>
            <a:ext cx="410634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Legends: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61819310-5AA3-FC00-2421-EE327FCF6822}"/>
              </a:ext>
            </a:extLst>
          </p:cNvPr>
          <p:cNvSpPr/>
          <p:nvPr/>
        </p:nvSpPr>
        <p:spPr>
          <a:xfrm rot="16200000">
            <a:off x="2464518" y="440697"/>
            <a:ext cx="179016" cy="12267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FPb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1F9C44E2-C76C-BF33-5F57-38C3830644DC}"/>
              </a:ext>
            </a:extLst>
          </p:cNvPr>
          <p:cNvSpPr/>
          <p:nvPr/>
        </p:nvSpPr>
        <p:spPr>
          <a:xfrm>
            <a:off x="2710435" y="433733"/>
            <a:ext cx="476730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800" dirty="0">
                <a:solidFill>
                  <a:schemeClr val="tx1"/>
                </a:solidFill>
              </a:rPr>
              <a:t>LFP Entry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68B57496-A527-233B-0B93-9B31D91ED9E0}"/>
              </a:ext>
            </a:extLst>
          </p:cNvPr>
          <p:cNvCxnSpPr>
            <a:cxnSpLocks/>
          </p:cNvCxnSpPr>
          <p:nvPr/>
        </p:nvCxnSpPr>
        <p:spPr>
          <a:xfrm>
            <a:off x="2454819" y="743087"/>
            <a:ext cx="195586" cy="0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3" name="矩形 252">
            <a:extLst>
              <a:ext uri="{FF2B5EF4-FFF2-40B4-BE49-F238E27FC236}">
                <a16:creationId xmlns:a16="http://schemas.microsoft.com/office/drawing/2014/main" id="{DA860A1C-ECF5-4EC4-5DD2-5925C4C92303}"/>
              </a:ext>
            </a:extLst>
          </p:cNvPr>
          <p:cNvSpPr/>
          <p:nvPr/>
        </p:nvSpPr>
        <p:spPr>
          <a:xfrm>
            <a:off x="2710435" y="667369"/>
            <a:ext cx="476730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800" dirty="0">
                <a:solidFill>
                  <a:schemeClr val="tx1"/>
                </a:solidFill>
              </a:rPr>
              <a:t>FS Pointer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FA715637-4609-226B-78BB-E41500EDFB83}"/>
              </a:ext>
            </a:extLst>
          </p:cNvPr>
          <p:cNvSpPr/>
          <p:nvPr/>
        </p:nvSpPr>
        <p:spPr>
          <a:xfrm>
            <a:off x="2453194" y="884318"/>
            <a:ext cx="196706" cy="1366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D3: 2 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2C4D40DD-8C91-6A8B-5603-CDDB651E3255}"/>
              </a:ext>
            </a:extLst>
          </p:cNvPr>
          <p:cNvSpPr/>
          <p:nvPr/>
        </p:nvSpPr>
        <p:spPr>
          <a:xfrm>
            <a:off x="2710435" y="884318"/>
            <a:ext cx="476730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800" dirty="0">
                <a:solidFill>
                  <a:schemeClr val="tx1"/>
                </a:solidFill>
              </a:rPr>
              <a:t>GFI Entry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65" name="矩形 202">
            <a:extLst>
              <a:ext uri="{FF2B5EF4-FFF2-40B4-BE49-F238E27FC236}">
                <a16:creationId xmlns:a16="http://schemas.microsoft.com/office/drawing/2014/main" id="{30D6BBF5-2A31-1A31-986C-B403BCBD0F42}"/>
              </a:ext>
            </a:extLst>
          </p:cNvPr>
          <p:cNvSpPr/>
          <p:nvPr/>
        </p:nvSpPr>
        <p:spPr>
          <a:xfrm rot="16200000">
            <a:off x="2482952" y="1154544"/>
            <a:ext cx="179016" cy="123261"/>
          </a:xfrm>
          <a:custGeom>
            <a:avLst/>
            <a:gdLst>
              <a:gd name="connsiteX0" fmla="*/ 0 w 179016"/>
              <a:gd name="connsiteY0" fmla="*/ 0 h 96179"/>
              <a:gd name="connsiteX1" fmla="*/ 179016 w 179016"/>
              <a:gd name="connsiteY1" fmla="*/ 0 h 96179"/>
              <a:gd name="connsiteX2" fmla="*/ 179016 w 179016"/>
              <a:gd name="connsiteY2" fmla="*/ 96179 h 96179"/>
              <a:gd name="connsiteX3" fmla="*/ 0 w 179016"/>
              <a:gd name="connsiteY3" fmla="*/ 96179 h 96179"/>
              <a:gd name="connsiteX4" fmla="*/ 0 w 179016"/>
              <a:gd name="connsiteY4" fmla="*/ 0 h 96179"/>
              <a:gd name="connsiteX0" fmla="*/ 0 w 179016"/>
              <a:gd name="connsiteY0" fmla="*/ 457 h 96636"/>
              <a:gd name="connsiteX1" fmla="*/ 144218 w 179016"/>
              <a:gd name="connsiteY1" fmla="*/ 0 h 96636"/>
              <a:gd name="connsiteX2" fmla="*/ 179016 w 179016"/>
              <a:gd name="connsiteY2" fmla="*/ 457 h 96636"/>
              <a:gd name="connsiteX3" fmla="*/ 179016 w 179016"/>
              <a:gd name="connsiteY3" fmla="*/ 96636 h 96636"/>
              <a:gd name="connsiteX4" fmla="*/ 0 w 179016"/>
              <a:gd name="connsiteY4" fmla="*/ 96636 h 96636"/>
              <a:gd name="connsiteX5" fmla="*/ 0 w 179016"/>
              <a:gd name="connsiteY5" fmla="*/ 457 h 96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016" h="96636">
                <a:moveTo>
                  <a:pt x="0" y="457"/>
                </a:moveTo>
                <a:lnTo>
                  <a:pt x="144218" y="0"/>
                </a:lnTo>
                <a:lnTo>
                  <a:pt x="179016" y="457"/>
                </a:lnTo>
                <a:lnTo>
                  <a:pt x="179016" y="96636"/>
                </a:lnTo>
                <a:lnTo>
                  <a:pt x="0" y="96636"/>
                </a:lnTo>
                <a:lnTo>
                  <a:pt x="0" y="45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FPc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CDBDE451-5489-3A4C-BA0C-238E5EC41C9B}"/>
              </a:ext>
            </a:extLst>
          </p:cNvPr>
          <p:cNvSpPr/>
          <p:nvPr/>
        </p:nvSpPr>
        <p:spPr>
          <a:xfrm>
            <a:off x="2721833" y="1139369"/>
            <a:ext cx="385349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800" dirty="0">
                <a:solidFill>
                  <a:schemeClr val="tx1"/>
                </a:solidFill>
              </a:rPr>
              <a:t>FP Value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A30DF26-2751-4295-6858-67D4820F53EC}"/>
              </a:ext>
            </a:extLst>
          </p:cNvPr>
          <p:cNvCxnSpPr>
            <a:cxnSpLocks/>
            <a:stCxn id="24" idx="2"/>
            <a:endCxn id="123" idx="3"/>
          </p:cNvCxnSpPr>
          <p:nvPr/>
        </p:nvCxnSpPr>
        <p:spPr>
          <a:xfrm>
            <a:off x="1362917" y="803940"/>
            <a:ext cx="71039" cy="14204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9616064-7828-B84B-678D-D3F5F5031BFC}"/>
              </a:ext>
            </a:extLst>
          </p:cNvPr>
          <p:cNvCxnSpPr>
            <a:cxnSpLocks/>
            <a:stCxn id="25" idx="2"/>
            <a:endCxn id="125" idx="3"/>
          </p:cNvCxnSpPr>
          <p:nvPr/>
        </p:nvCxnSpPr>
        <p:spPr>
          <a:xfrm>
            <a:off x="1762725" y="803940"/>
            <a:ext cx="26414" cy="14204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971F7F4-F0AC-A4D5-E810-F878199B7949}"/>
              </a:ext>
            </a:extLst>
          </p:cNvPr>
          <p:cNvCxnSpPr>
            <a:cxnSpLocks/>
            <a:stCxn id="25" idx="2"/>
            <a:endCxn id="126" idx="3"/>
          </p:cNvCxnSpPr>
          <p:nvPr/>
        </p:nvCxnSpPr>
        <p:spPr>
          <a:xfrm>
            <a:off x="1762725" y="803940"/>
            <a:ext cx="208263" cy="14204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70D9AA8-DE75-59AC-3915-646DEEFB6BB1}"/>
              </a:ext>
            </a:extLst>
          </p:cNvPr>
          <p:cNvSpPr/>
          <p:nvPr/>
        </p:nvSpPr>
        <p:spPr>
          <a:xfrm>
            <a:off x="657392" y="460934"/>
            <a:ext cx="193201" cy="12505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084345-CBE0-948B-9794-EB44AA1612B9}"/>
              </a:ext>
            </a:extLst>
          </p:cNvPr>
          <p:cNvSpPr/>
          <p:nvPr/>
        </p:nvSpPr>
        <p:spPr>
          <a:xfrm>
            <a:off x="383380" y="460934"/>
            <a:ext cx="193201" cy="12505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FPb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33BB635-25B0-E458-D4B5-B4CDFA43F078}"/>
              </a:ext>
            </a:extLst>
          </p:cNvPr>
          <p:cNvCxnSpPr>
            <a:cxnSpLocks/>
            <a:stCxn id="32" idx="2"/>
            <a:endCxn id="156" idx="0"/>
          </p:cNvCxnSpPr>
          <p:nvPr/>
        </p:nvCxnSpPr>
        <p:spPr>
          <a:xfrm flipH="1">
            <a:off x="405407" y="585989"/>
            <a:ext cx="348586" cy="54730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30AAF4C-AB78-94AC-038A-D0769E93DB1D}"/>
              </a:ext>
            </a:extLst>
          </p:cNvPr>
          <p:cNvCxnSpPr>
            <a:cxnSpLocks/>
            <a:stCxn id="33" idx="2"/>
            <a:endCxn id="158" idx="0"/>
          </p:cNvCxnSpPr>
          <p:nvPr/>
        </p:nvCxnSpPr>
        <p:spPr>
          <a:xfrm>
            <a:off x="479981" y="585989"/>
            <a:ext cx="244511" cy="54730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4277999-6CE8-4284-1B46-330744397D0E}"/>
              </a:ext>
            </a:extLst>
          </p:cNvPr>
          <p:cNvSpPr/>
          <p:nvPr/>
        </p:nvSpPr>
        <p:spPr>
          <a:xfrm>
            <a:off x="907950" y="464722"/>
            <a:ext cx="164641" cy="12126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···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80774F9-5A32-AA1E-849D-BC7941F005BF}"/>
              </a:ext>
            </a:extLst>
          </p:cNvPr>
          <p:cNvCxnSpPr>
            <a:cxnSpLocks/>
          </p:cNvCxnSpPr>
          <p:nvPr/>
        </p:nvCxnSpPr>
        <p:spPr>
          <a:xfrm flipH="1">
            <a:off x="10160" y="861606"/>
            <a:ext cx="2285668" cy="0"/>
          </a:xfrm>
          <a:prstGeom prst="straightConnector1">
            <a:avLst/>
          </a:prstGeom>
          <a:ln w="6350">
            <a:prstDash val="dash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187D0B6F-8A32-A0BE-5EB6-EFA74720767B}"/>
              </a:ext>
            </a:extLst>
          </p:cNvPr>
          <p:cNvSpPr/>
          <p:nvPr/>
        </p:nvSpPr>
        <p:spPr>
          <a:xfrm rot="16200000">
            <a:off x="-153188" y="1091335"/>
            <a:ext cx="495545" cy="1253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Storage </a:t>
            </a:r>
          </a:p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(PM, SSD, </a:t>
            </a:r>
            <a:r>
              <a:rPr lang="en-US" altLang="zh-CN" sz="700" b="1" dirty="0" err="1">
                <a:solidFill>
                  <a:schemeClr val="tx1"/>
                </a:solidFill>
              </a:rPr>
              <a:t>etc</a:t>
            </a:r>
            <a:r>
              <a:rPr lang="en-US" altLang="zh-CN" sz="700" b="1" dirty="0">
                <a:solidFill>
                  <a:schemeClr val="tx1"/>
                </a:solidFill>
              </a:rPr>
              <a:t>)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0714193-8338-121D-5B02-93228B87E825}"/>
              </a:ext>
            </a:extLst>
          </p:cNvPr>
          <p:cNvSpPr/>
          <p:nvPr/>
        </p:nvSpPr>
        <p:spPr>
          <a:xfrm rot="16200000">
            <a:off x="-169376" y="478717"/>
            <a:ext cx="521373" cy="1253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Memory (DRAM)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63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>
            <a:extLst>
              <a:ext uri="{FF2B5EF4-FFF2-40B4-BE49-F238E27FC236}">
                <a16:creationId xmlns:a16="http://schemas.microsoft.com/office/drawing/2014/main" id="{FAC14881-9357-7C7D-BC8E-05DC273ED644}"/>
              </a:ext>
            </a:extLst>
          </p:cNvPr>
          <p:cNvSpPr/>
          <p:nvPr/>
        </p:nvSpPr>
        <p:spPr>
          <a:xfrm>
            <a:off x="1590118" y="325485"/>
            <a:ext cx="929636" cy="6093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F8D0B7-48B3-C320-8EE7-CB770F26638F}"/>
              </a:ext>
            </a:extLst>
          </p:cNvPr>
          <p:cNvSpPr/>
          <p:nvPr/>
        </p:nvSpPr>
        <p:spPr>
          <a:xfrm>
            <a:off x="548766" y="0"/>
            <a:ext cx="1970988" cy="13239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Applications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4" name="卷形: 垂直 23">
            <a:extLst>
              <a:ext uri="{FF2B5EF4-FFF2-40B4-BE49-F238E27FC236}">
                <a16:creationId xmlns:a16="http://schemas.microsoft.com/office/drawing/2014/main" id="{805C62E6-327B-243E-A0D6-1DBDC76D6E18}"/>
              </a:ext>
            </a:extLst>
          </p:cNvPr>
          <p:cNvSpPr/>
          <p:nvPr/>
        </p:nvSpPr>
        <p:spPr>
          <a:xfrm>
            <a:off x="1628041" y="605233"/>
            <a:ext cx="378522" cy="245284"/>
          </a:xfrm>
          <a:prstGeom prst="verticalScroll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Inode 1</a:t>
            </a:r>
          </a:p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(File 1)</a:t>
            </a:r>
          </a:p>
        </p:txBody>
      </p:sp>
      <p:sp>
        <p:nvSpPr>
          <p:cNvPr id="25" name="卷形: 垂直 24">
            <a:extLst>
              <a:ext uri="{FF2B5EF4-FFF2-40B4-BE49-F238E27FC236}">
                <a16:creationId xmlns:a16="http://schemas.microsoft.com/office/drawing/2014/main" id="{F8728257-F4D7-0EED-A953-0C7E6B5331BC}"/>
              </a:ext>
            </a:extLst>
          </p:cNvPr>
          <p:cNvSpPr/>
          <p:nvPr/>
        </p:nvSpPr>
        <p:spPr>
          <a:xfrm>
            <a:off x="2105848" y="603356"/>
            <a:ext cx="378522" cy="245284"/>
          </a:xfrm>
          <a:prstGeom prst="verticalScroll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Inode 2</a:t>
            </a:r>
          </a:p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(File 2)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923651-7235-2DAF-B20A-A71B2627AD5F}"/>
              </a:ext>
            </a:extLst>
          </p:cNvPr>
          <p:cNvSpPr/>
          <p:nvPr/>
        </p:nvSpPr>
        <p:spPr>
          <a:xfrm>
            <a:off x="554104" y="526807"/>
            <a:ext cx="929636" cy="40800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EDF130-1220-94C9-6CF6-2EB1F983513D}"/>
              </a:ext>
            </a:extLst>
          </p:cNvPr>
          <p:cNvSpPr/>
          <p:nvPr/>
        </p:nvSpPr>
        <p:spPr>
          <a:xfrm>
            <a:off x="554104" y="325484"/>
            <a:ext cx="932102" cy="136602"/>
          </a:xfrm>
          <a:prstGeom prst="rect">
            <a:avLst/>
          </a:prstGeom>
          <a:solidFill>
            <a:srgbClr val="D9D9D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Duplication Identifier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125AB794-FFA4-01AA-B8C1-C7ACF9F7F984}"/>
              </a:ext>
            </a:extLst>
          </p:cNvPr>
          <p:cNvSpPr/>
          <p:nvPr/>
        </p:nvSpPr>
        <p:spPr>
          <a:xfrm>
            <a:off x="563786" y="509361"/>
            <a:ext cx="929635" cy="13660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Global FP Index (GFI)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E4FA83D2-CD7E-F25D-FF16-444188D5A660}"/>
              </a:ext>
            </a:extLst>
          </p:cNvPr>
          <p:cNvCxnSpPr>
            <a:cxnSpLocks/>
          </p:cNvCxnSpPr>
          <p:nvPr/>
        </p:nvCxnSpPr>
        <p:spPr>
          <a:xfrm flipH="1">
            <a:off x="444500" y="228544"/>
            <a:ext cx="2070100" cy="0"/>
          </a:xfrm>
          <a:prstGeom prst="straightConnector1">
            <a:avLst/>
          </a:prstGeom>
          <a:ln w="6350">
            <a:prstDash val="dash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F7BEF728-B687-7381-E5A8-97B2D7B91F84}"/>
              </a:ext>
            </a:extLst>
          </p:cNvPr>
          <p:cNvSpPr/>
          <p:nvPr/>
        </p:nvSpPr>
        <p:spPr>
          <a:xfrm>
            <a:off x="864554" y="156641"/>
            <a:ext cx="1283299" cy="1366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File System Interface (write/read)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C8CD063D-B490-2561-D6BF-D71909F4CEB9}"/>
              </a:ext>
            </a:extLst>
          </p:cNvPr>
          <p:cNvGrpSpPr/>
          <p:nvPr/>
        </p:nvGrpSpPr>
        <p:grpSpPr>
          <a:xfrm>
            <a:off x="609059" y="645914"/>
            <a:ext cx="806850" cy="266644"/>
            <a:chOff x="612801" y="653974"/>
            <a:chExt cx="806850" cy="304840"/>
          </a:xfrm>
        </p:grpSpPr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61FEEE96-10DB-430D-C7E3-CDCB77A994E7}"/>
                </a:ext>
              </a:extLst>
            </p:cNvPr>
            <p:cNvSpPr/>
            <p:nvPr/>
          </p:nvSpPr>
          <p:spPr>
            <a:xfrm>
              <a:off x="612801" y="833759"/>
              <a:ext cx="279331" cy="1250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D3, 2 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29CFABEA-C471-5AE4-C586-FB8BA3F6A9A5}"/>
                </a:ext>
              </a:extLst>
            </p:cNvPr>
            <p:cNvSpPr/>
            <p:nvPr/>
          </p:nvSpPr>
          <p:spPr>
            <a:xfrm>
              <a:off x="931886" y="833759"/>
              <a:ext cx="279331" cy="1250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D1, 1 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1792B810-E926-FDB8-DDA1-1F0B80C2343A}"/>
                </a:ext>
              </a:extLst>
            </p:cNvPr>
            <p:cNvSpPr/>
            <p:nvPr/>
          </p:nvSpPr>
          <p:spPr>
            <a:xfrm>
              <a:off x="1255010" y="835009"/>
              <a:ext cx="164641" cy="121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···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70D9AA8-DE75-59AC-3915-646DEEFB6BB1}"/>
                </a:ext>
              </a:extLst>
            </p:cNvPr>
            <p:cNvSpPr/>
            <p:nvPr/>
          </p:nvSpPr>
          <p:spPr>
            <a:xfrm>
              <a:off x="1004452" y="653974"/>
              <a:ext cx="193201" cy="1250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</a:rPr>
                <a:t>FPa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B084345-CBE0-948B-9794-EB44AA1612B9}"/>
                </a:ext>
              </a:extLst>
            </p:cNvPr>
            <p:cNvSpPr/>
            <p:nvPr/>
          </p:nvSpPr>
          <p:spPr>
            <a:xfrm>
              <a:off x="730440" y="653974"/>
              <a:ext cx="193201" cy="1250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</a:rPr>
                <a:t>FPc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33BB635-25B0-E458-D4B5-B4CDFA43F078}"/>
                </a:ext>
              </a:extLst>
            </p:cNvPr>
            <p:cNvCxnSpPr>
              <a:cxnSpLocks/>
              <a:stCxn id="32" idx="2"/>
              <a:endCxn id="156" idx="0"/>
            </p:cNvCxnSpPr>
            <p:nvPr/>
          </p:nvCxnSpPr>
          <p:spPr>
            <a:xfrm flipH="1">
              <a:off x="752467" y="779029"/>
              <a:ext cx="348586" cy="5473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030AAF4C-AB78-94AC-038A-D0769E93DB1D}"/>
                </a:ext>
              </a:extLst>
            </p:cNvPr>
            <p:cNvCxnSpPr>
              <a:cxnSpLocks/>
              <a:stCxn id="33" idx="2"/>
              <a:endCxn id="158" idx="0"/>
            </p:cNvCxnSpPr>
            <p:nvPr/>
          </p:nvCxnSpPr>
          <p:spPr>
            <a:xfrm>
              <a:off x="827041" y="779029"/>
              <a:ext cx="244511" cy="5473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4277999-6CE8-4284-1B46-330744397D0E}"/>
                </a:ext>
              </a:extLst>
            </p:cNvPr>
            <p:cNvSpPr/>
            <p:nvPr/>
          </p:nvSpPr>
          <p:spPr>
            <a:xfrm>
              <a:off x="1255010" y="657762"/>
              <a:ext cx="164641" cy="121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···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80774F9-5A32-AA1E-849D-BC7941F005BF}"/>
              </a:ext>
            </a:extLst>
          </p:cNvPr>
          <p:cNvCxnSpPr>
            <a:cxnSpLocks/>
          </p:cNvCxnSpPr>
          <p:nvPr/>
        </p:nvCxnSpPr>
        <p:spPr>
          <a:xfrm flipH="1">
            <a:off x="416560" y="983617"/>
            <a:ext cx="2109470" cy="0"/>
          </a:xfrm>
          <a:prstGeom prst="straightConnector1">
            <a:avLst/>
          </a:prstGeom>
          <a:ln w="6350">
            <a:prstDash val="dash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187D0B6F-8A32-A0BE-5EB6-EFA74720767B}"/>
              </a:ext>
            </a:extLst>
          </p:cNvPr>
          <p:cNvSpPr/>
          <p:nvPr/>
        </p:nvSpPr>
        <p:spPr>
          <a:xfrm rot="16200000">
            <a:off x="299992" y="1137225"/>
            <a:ext cx="345043" cy="1253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Storage 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0714193-8338-121D-5B02-93228B87E825}"/>
              </a:ext>
            </a:extLst>
          </p:cNvPr>
          <p:cNvSpPr/>
          <p:nvPr/>
        </p:nvSpPr>
        <p:spPr>
          <a:xfrm rot="16200000">
            <a:off x="211739" y="530004"/>
            <a:ext cx="521373" cy="1253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Memory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BDB8183E-8FC0-7984-4913-9FAD9D501E0A}"/>
              </a:ext>
            </a:extLst>
          </p:cNvPr>
          <p:cNvGrpSpPr/>
          <p:nvPr/>
        </p:nvGrpSpPr>
        <p:grpSpPr>
          <a:xfrm>
            <a:off x="548767" y="1230168"/>
            <a:ext cx="935196" cy="142571"/>
            <a:chOff x="552509" y="1425321"/>
            <a:chExt cx="935196" cy="158260"/>
          </a:xfrm>
        </p:grpSpPr>
        <p:sp>
          <p:nvSpPr>
            <p:cNvPr id="15" name="矩形 202">
              <a:extLst>
                <a:ext uri="{FF2B5EF4-FFF2-40B4-BE49-F238E27FC236}">
                  <a16:creationId xmlns:a16="http://schemas.microsoft.com/office/drawing/2014/main" id="{B6630673-B391-4533-27F2-76CDF057A7A8}"/>
                </a:ext>
              </a:extLst>
            </p:cNvPr>
            <p:cNvSpPr/>
            <p:nvPr/>
          </p:nvSpPr>
          <p:spPr>
            <a:xfrm rot="16200000">
              <a:off x="521697" y="1456133"/>
              <a:ext cx="158259" cy="96636"/>
            </a:xfrm>
            <a:custGeom>
              <a:avLst/>
              <a:gdLst>
                <a:gd name="connsiteX0" fmla="*/ 0 w 179016"/>
                <a:gd name="connsiteY0" fmla="*/ 0 h 96179"/>
                <a:gd name="connsiteX1" fmla="*/ 179016 w 179016"/>
                <a:gd name="connsiteY1" fmla="*/ 0 h 96179"/>
                <a:gd name="connsiteX2" fmla="*/ 179016 w 179016"/>
                <a:gd name="connsiteY2" fmla="*/ 96179 h 96179"/>
                <a:gd name="connsiteX3" fmla="*/ 0 w 179016"/>
                <a:gd name="connsiteY3" fmla="*/ 96179 h 96179"/>
                <a:gd name="connsiteX4" fmla="*/ 0 w 179016"/>
                <a:gd name="connsiteY4" fmla="*/ 0 h 96179"/>
                <a:gd name="connsiteX0" fmla="*/ 0 w 179016"/>
                <a:gd name="connsiteY0" fmla="*/ 457 h 96636"/>
                <a:gd name="connsiteX1" fmla="*/ 144218 w 179016"/>
                <a:gd name="connsiteY1" fmla="*/ 0 h 96636"/>
                <a:gd name="connsiteX2" fmla="*/ 179016 w 179016"/>
                <a:gd name="connsiteY2" fmla="*/ 457 h 96636"/>
                <a:gd name="connsiteX3" fmla="*/ 179016 w 179016"/>
                <a:gd name="connsiteY3" fmla="*/ 96636 h 96636"/>
                <a:gd name="connsiteX4" fmla="*/ 0 w 179016"/>
                <a:gd name="connsiteY4" fmla="*/ 96636 h 96636"/>
                <a:gd name="connsiteX5" fmla="*/ 0 w 179016"/>
                <a:gd name="connsiteY5" fmla="*/ 457 h 9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9016" h="96636">
                  <a:moveTo>
                    <a:pt x="0" y="457"/>
                  </a:moveTo>
                  <a:lnTo>
                    <a:pt x="144218" y="0"/>
                  </a:lnTo>
                  <a:lnTo>
                    <a:pt x="179016" y="457"/>
                  </a:lnTo>
                  <a:lnTo>
                    <a:pt x="179016" y="96636"/>
                  </a:lnTo>
                  <a:lnTo>
                    <a:pt x="0" y="96636"/>
                  </a:lnTo>
                  <a:lnTo>
                    <a:pt x="0" y="457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</a:rPr>
                <a:t>FPc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02D3E8B-F11F-29AF-E62B-CB1D1523889F}"/>
                </a:ext>
              </a:extLst>
            </p:cNvPr>
            <p:cNvSpPr/>
            <p:nvPr/>
          </p:nvSpPr>
          <p:spPr>
            <a:xfrm rot="16200000">
              <a:off x="616704" y="1456361"/>
              <a:ext cx="158259" cy="96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</a:rPr>
                <a:t>FPd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DFCBE07-AF1C-8A3B-5366-FD1293AD7EC0}"/>
                </a:ext>
              </a:extLst>
            </p:cNvPr>
            <p:cNvSpPr/>
            <p:nvPr/>
          </p:nvSpPr>
          <p:spPr>
            <a:xfrm rot="16200000">
              <a:off x="712516" y="1456361"/>
              <a:ext cx="158259" cy="96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5370AF6-27F5-EA00-2A65-85FD7B77E01D}"/>
                </a:ext>
              </a:extLst>
            </p:cNvPr>
            <p:cNvSpPr/>
            <p:nvPr/>
          </p:nvSpPr>
          <p:spPr>
            <a:xfrm rot="16200000">
              <a:off x="807293" y="1456361"/>
              <a:ext cx="158259" cy="96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210">
              <a:extLst>
                <a:ext uri="{FF2B5EF4-FFF2-40B4-BE49-F238E27FC236}">
                  <a16:creationId xmlns:a16="http://schemas.microsoft.com/office/drawing/2014/main" id="{53271B9A-F101-9035-978E-20B4858FB68B}"/>
                </a:ext>
              </a:extLst>
            </p:cNvPr>
            <p:cNvSpPr/>
            <p:nvPr/>
          </p:nvSpPr>
          <p:spPr>
            <a:xfrm>
              <a:off x="933918" y="1425321"/>
              <a:ext cx="553787" cy="158260"/>
            </a:xfrm>
            <a:custGeom>
              <a:avLst/>
              <a:gdLst>
                <a:gd name="connsiteX0" fmla="*/ 0 w 132795"/>
                <a:gd name="connsiteY0" fmla="*/ 0 h 179017"/>
                <a:gd name="connsiteX1" fmla="*/ 132795 w 132795"/>
                <a:gd name="connsiteY1" fmla="*/ 0 h 179017"/>
                <a:gd name="connsiteX2" fmla="*/ 132795 w 132795"/>
                <a:gd name="connsiteY2" fmla="*/ 179017 h 179017"/>
                <a:gd name="connsiteX3" fmla="*/ 0 w 132795"/>
                <a:gd name="connsiteY3" fmla="*/ 179017 h 179017"/>
                <a:gd name="connsiteX4" fmla="*/ 0 w 132795"/>
                <a:gd name="connsiteY4" fmla="*/ 0 h 179017"/>
                <a:gd name="connsiteX0" fmla="*/ 0 w 132941"/>
                <a:gd name="connsiteY0" fmla="*/ 0 h 179017"/>
                <a:gd name="connsiteX1" fmla="*/ 132795 w 132941"/>
                <a:gd name="connsiteY1" fmla="*/ 0 h 179017"/>
                <a:gd name="connsiteX2" fmla="*/ 132941 w 132941"/>
                <a:gd name="connsiteY2" fmla="*/ 36704 h 179017"/>
                <a:gd name="connsiteX3" fmla="*/ 132795 w 132941"/>
                <a:gd name="connsiteY3" fmla="*/ 179017 h 179017"/>
                <a:gd name="connsiteX4" fmla="*/ 0 w 132941"/>
                <a:gd name="connsiteY4" fmla="*/ 179017 h 179017"/>
                <a:gd name="connsiteX5" fmla="*/ 0 w 132941"/>
                <a:gd name="connsiteY5" fmla="*/ 0 h 17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941" h="179017">
                  <a:moveTo>
                    <a:pt x="0" y="0"/>
                  </a:moveTo>
                  <a:lnTo>
                    <a:pt x="132795" y="0"/>
                  </a:lnTo>
                  <a:cubicBezTo>
                    <a:pt x="132844" y="12235"/>
                    <a:pt x="132892" y="24469"/>
                    <a:pt x="132941" y="36704"/>
                  </a:cubicBezTo>
                  <a:cubicBezTo>
                    <a:pt x="132892" y="84142"/>
                    <a:pt x="132844" y="131579"/>
                    <a:pt x="132795" y="179017"/>
                  </a:cubicBezTo>
                  <a:lnTo>
                    <a:pt x="0" y="1790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···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426688C-DD23-DE35-DD4C-7EE649D804EC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1316203" y="1182740"/>
            <a:ext cx="167152" cy="47428"/>
          </a:xfrm>
          <a:prstGeom prst="straightConnector1">
            <a:avLst/>
          </a:prstGeom>
          <a:ln w="6350"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82096ED-46B2-5AA4-BD2F-DBCF8B330FBA}"/>
              </a:ext>
            </a:extLst>
          </p:cNvPr>
          <p:cNvCxnSpPr>
            <a:cxnSpLocks/>
            <a:stCxn id="14" idx="4"/>
            <a:endCxn id="15" idx="2"/>
          </p:cNvCxnSpPr>
          <p:nvPr/>
        </p:nvCxnSpPr>
        <p:spPr>
          <a:xfrm flipH="1">
            <a:off x="549223" y="1182740"/>
            <a:ext cx="160886" cy="47429"/>
          </a:xfrm>
          <a:prstGeom prst="straightConnector1">
            <a:avLst/>
          </a:prstGeom>
          <a:ln w="6350"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E33E6817-FE97-8BC2-B415-F1952502A510}"/>
              </a:ext>
            </a:extLst>
          </p:cNvPr>
          <p:cNvGrpSpPr/>
          <p:nvPr/>
        </p:nvGrpSpPr>
        <p:grpSpPr>
          <a:xfrm>
            <a:off x="1587655" y="1227125"/>
            <a:ext cx="932099" cy="145311"/>
            <a:chOff x="1677691" y="1439761"/>
            <a:chExt cx="1037469" cy="129540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27C182C-27C9-8081-5655-5D0AB0E92B5E}"/>
                </a:ext>
              </a:extLst>
            </p:cNvPr>
            <p:cNvSpPr/>
            <p:nvPr/>
          </p:nvSpPr>
          <p:spPr>
            <a:xfrm>
              <a:off x="1677691" y="1439761"/>
              <a:ext cx="418405" cy="1295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</a:rPr>
                <a:t>Data </a:t>
              </a:r>
              <a:r>
                <a:rPr lang="en-US" altLang="zh-CN" sz="700" b="1" dirty="0" err="1">
                  <a:solidFill>
                    <a:schemeClr val="tx1"/>
                  </a:solidFill>
                </a:rPr>
                <a:t>Blks</a:t>
              </a:r>
              <a:endParaRPr lang="zh-CN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716D1C77-32F6-76A5-F1D7-AE18EE19491C}"/>
                </a:ext>
              </a:extLst>
            </p:cNvPr>
            <p:cNvSpPr/>
            <p:nvPr/>
          </p:nvSpPr>
          <p:spPr>
            <a:xfrm>
              <a:off x="2117274" y="1439761"/>
              <a:ext cx="216443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0FE81972-4F56-63AD-051B-90951475981A}"/>
                </a:ext>
              </a:extLst>
            </p:cNvPr>
            <p:cNvSpPr/>
            <p:nvPr/>
          </p:nvSpPr>
          <p:spPr>
            <a:xfrm>
              <a:off x="2396504" y="1439761"/>
              <a:ext cx="318656" cy="12954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D1-D2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9" name="矩形 7">
            <a:extLst>
              <a:ext uri="{FF2B5EF4-FFF2-40B4-BE49-F238E27FC236}">
                <a16:creationId xmlns:a16="http://schemas.microsoft.com/office/drawing/2014/main" id="{9CDB6CD2-D976-7F7F-2553-2795EC8AFEE8}"/>
              </a:ext>
            </a:extLst>
          </p:cNvPr>
          <p:cNvSpPr/>
          <p:nvPr/>
        </p:nvSpPr>
        <p:spPr>
          <a:xfrm>
            <a:off x="1587656" y="1025417"/>
            <a:ext cx="932100" cy="156945"/>
          </a:xfrm>
          <a:custGeom>
            <a:avLst/>
            <a:gdLst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0 w 515621"/>
              <a:gd name="connsiteY3" fmla="*/ 253095 h 253095"/>
              <a:gd name="connsiteX4" fmla="*/ 0 w 515621"/>
              <a:gd name="connsiteY4" fmla="*/ 0 h 253095"/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88901 w 515621"/>
              <a:gd name="connsiteY3" fmla="*/ 250999 h 253095"/>
              <a:gd name="connsiteX4" fmla="*/ 0 w 515621"/>
              <a:gd name="connsiteY4" fmla="*/ 253095 h 253095"/>
              <a:gd name="connsiteX5" fmla="*/ 0 w 515621"/>
              <a:gd name="connsiteY5" fmla="*/ 0 h 253095"/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424181 w 515621"/>
              <a:gd name="connsiteY3" fmla="*/ 250999 h 253095"/>
              <a:gd name="connsiteX4" fmla="*/ 88901 w 515621"/>
              <a:gd name="connsiteY4" fmla="*/ 250999 h 253095"/>
              <a:gd name="connsiteX5" fmla="*/ 0 w 515621"/>
              <a:gd name="connsiteY5" fmla="*/ 253095 h 253095"/>
              <a:gd name="connsiteX6" fmla="*/ 0 w 515621"/>
              <a:gd name="connsiteY6" fmla="*/ 0 h 25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621" h="253095">
                <a:moveTo>
                  <a:pt x="0" y="0"/>
                </a:moveTo>
                <a:lnTo>
                  <a:pt x="515621" y="0"/>
                </a:lnTo>
                <a:lnTo>
                  <a:pt x="515621" y="253095"/>
                </a:lnTo>
                <a:lnTo>
                  <a:pt x="424181" y="250999"/>
                </a:lnTo>
                <a:lnTo>
                  <a:pt x="88901" y="250999"/>
                </a:lnTo>
                <a:lnTo>
                  <a:pt x="0" y="25309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AA50391-74CF-849E-C45E-98364C414627}"/>
              </a:ext>
            </a:extLst>
          </p:cNvPr>
          <p:cNvSpPr/>
          <p:nvPr/>
        </p:nvSpPr>
        <p:spPr>
          <a:xfrm>
            <a:off x="1820523" y="1053787"/>
            <a:ext cx="179016" cy="9617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D9D9D9"/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LFPa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59E6220-26FB-5910-8801-78F91E9E24F7}"/>
              </a:ext>
            </a:extLst>
          </p:cNvPr>
          <p:cNvSpPr/>
          <p:nvPr/>
        </p:nvSpPr>
        <p:spPr>
          <a:xfrm>
            <a:off x="2056930" y="1057199"/>
            <a:ext cx="179016" cy="9617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D9D9D9"/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 err="1">
                <a:solidFill>
                  <a:schemeClr val="tx1"/>
                </a:solidFill>
              </a:rPr>
              <a:t>LFPa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F9CBA8F-FC92-E22C-4548-07BF741C693C}"/>
              </a:ext>
            </a:extLst>
          </p:cNvPr>
          <p:cNvSpPr/>
          <p:nvPr/>
        </p:nvSpPr>
        <p:spPr>
          <a:xfrm>
            <a:off x="2279197" y="1054855"/>
            <a:ext cx="179016" cy="9617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D9D9D9"/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NIL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14" name="矩形 7">
            <a:extLst>
              <a:ext uri="{FF2B5EF4-FFF2-40B4-BE49-F238E27FC236}">
                <a16:creationId xmlns:a16="http://schemas.microsoft.com/office/drawing/2014/main" id="{01A22923-BD44-6693-E37D-A8C3B1C12E10}"/>
              </a:ext>
            </a:extLst>
          </p:cNvPr>
          <p:cNvSpPr/>
          <p:nvPr/>
        </p:nvSpPr>
        <p:spPr>
          <a:xfrm>
            <a:off x="549401" y="1025793"/>
            <a:ext cx="932100" cy="158258"/>
          </a:xfrm>
          <a:custGeom>
            <a:avLst/>
            <a:gdLst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0 w 515621"/>
              <a:gd name="connsiteY3" fmla="*/ 253095 h 253095"/>
              <a:gd name="connsiteX4" fmla="*/ 0 w 515621"/>
              <a:gd name="connsiteY4" fmla="*/ 0 h 253095"/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88901 w 515621"/>
              <a:gd name="connsiteY3" fmla="*/ 250999 h 253095"/>
              <a:gd name="connsiteX4" fmla="*/ 0 w 515621"/>
              <a:gd name="connsiteY4" fmla="*/ 253095 h 253095"/>
              <a:gd name="connsiteX5" fmla="*/ 0 w 515621"/>
              <a:gd name="connsiteY5" fmla="*/ 0 h 253095"/>
              <a:gd name="connsiteX0" fmla="*/ 0 w 515621"/>
              <a:gd name="connsiteY0" fmla="*/ 0 h 253095"/>
              <a:gd name="connsiteX1" fmla="*/ 515621 w 515621"/>
              <a:gd name="connsiteY1" fmla="*/ 0 h 253095"/>
              <a:gd name="connsiteX2" fmla="*/ 515621 w 515621"/>
              <a:gd name="connsiteY2" fmla="*/ 253095 h 253095"/>
              <a:gd name="connsiteX3" fmla="*/ 424181 w 515621"/>
              <a:gd name="connsiteY3" fmla="*/ 250999 h 253095"/>
              <a:gd name="connsiteX4" fmla="*/ 88901 w 515621"/>
              <a:gd name="connsiteY4" fmla="*/ 250999 h 253095"/>
              <a:gd name="connsiteX5" fmla="*/ 0 w 515621"/>
              <a:gd name="connsiteY5" fmla="*/ 253095 h 253095"/>
              <a:gd name="connsiteX6" fmla="*/ 0 w 515621"/>
              <a:gd name="connsiteY6" fmla="*/ 0 h 25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621" h="253095">
                <a:moveTo>
                  <a:pt x="0" y="0"/>
                </a:moveTo>
                <a:lnTo>
                  <a:pt x="515621" y="0"/>
                </a:lnTo>
                <a:lnTo>
                  <a:pt x="515621" y="253095"/>
                </a:lnTo>
                <a:lnTo>
                  <a:pt x="424181" y="250999"/>
                </a:lnTo>
                <a:lnTo>
                  <a:pt x="88901" y="250999"/>
                </a:lnTo>
                <a:lnTo>
                  <a:pt x="0" y="25309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</a:rPr>
              <a:t>Overflow FP Table (OFT)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10358D1D-B364-2448-D638-7E96B3CEEA36}"/>
              </a:ext>
            </a:extLst>
          </p:cNvPr>
          <p:cNvSpPr/>
          <p:nvPr/>
        </p:nvSpPr>
        <p:spPr>
          <a:xfrm>
            <a:off x="1620383" y="1039699"/>
            <a:ext cx="171622" cy="1253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700" b="1" dirty="0">
                <a:solidFill>
                  <a:schemeClr val="tx1"/>
                </a:solidFill>
              </a:rPr>
              <a:t>LFPs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22CB223B-214D-D1DF-0C2D-989F35F33BC1}"/>
              </a:ext>
            </a:extLst>
          </p:cNvPr>
          <p:cNvSpPr/>
          <p:nvPr/>
        </p:nvSpPr>
        <p:spPr>
          <a:xfrm>
            <a:off x="1635120" y="400359"/>
            <a:ext cx="859681" cy="13660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</a:rPr>
              <a:t>File System Memory Data Structures</a:t>
            </a:r>
            <a:endParaRPr lang="zh-CN" altLang="en-US" sz="700" dirty="0">
              <a:solidFill>
                <a:schemeClr val="tx1"/>
              </a:solidFill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FB36CFE9-2BDF-22E2-3443-DCA50FC00C6D}"/>
              </a:ext>
            </a:extLst>
          </p:cNvPr>
          <p:cNvSpPr/>
          <p:nvPr/>
        </p:nvSpPr>
        <p:spPr>
          <a:xfrm rot="16200000">
            <a:off x="2432305" y="775664"/>
            <a:ext cx="521373" cy="1253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00" b="1" dirty="0" err="1">
                <a:solidFill>
                  <a:schemeClr val="tx1"/>
                </a:solidFill>
              </a:rPr>
              <a:t>GogetaFS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81" name="右大括号 280">
            <a:extLst>
              <a:ext uri="{FF2B5EF4-FFF2-40B4-BE49-F238E27FC236}">
                <a16:creationId xmlns:a16="http://schemas.microsoft.com/office/drawing/2014/main" id="{46915FBA-090B-58A5-D6DA-D737D9001463}"/>
              </a:ext>
            </a:extLst>
          </p:cNvPr>
          <p:cNvSpPr/>
          <p:nvPr/>
        </p:nvSpPr>
        <p:spPr>
          <a:xfrm>
            <a:off x="2568261" y="322036"/>
            <a:ext cx="45719" cy="10504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2D358C4-9ABD-504D-F9EA-3B004D682FD3}"/>
              </a:ext>
            </a:extLst>
          </p:cNvPr>
          <p:cNvCxnSpPr>
            <a:cxnSpLocks/>
            <a:stCxn id="24" idx="2"/>
            <a:endCxn id="124" idx="0"/>
          </p:cNvCxnSpPr>
          <p:nvPr/>
        </p:nvCxnSpPr>
        <p:spPr>
          <a:xfrm>
            <a:off x="1817302" y="850517"/>
            <a:ext cx="92729" cy="203270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40F4404-07A5-FA8D-409A-A9A663C9C8E5}"/>
              </a:ext>
            </a:extLst>
          </p:cNvPr>
          <p:cNvCxnSpPr>
            <a:cxnSpLocks/>
            <a:stCxn id="25" idx="2"/>
            <a:endCxn id="125" idx="0"/>
          </p:cNvCxnSpPr>
          <p:nvPr/>
        </p:nvCxnSpPr>
        <p:spPr>
          <a:xfrm flipH="1">
            <a:off x="2146438" y="848640"/>
            <a:ext cx="148671" cy="208559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49EBB9DA-F43E-1CDA-A1B4-A8694D395114}"/>
              </a:ext>
            </a:extLst>
          </p:cNvPr>
          <p:cNvCxnSpPr>
            <a:cxnSpLocks/>
            <a:stCxn id="25" idx="2"/>
            <a:endCxn id="189" idx="0"/>
          </p:cNvCxnSpPr>
          <p:nvPr/>
        </p:nvCxnSpPr>
        <p:spPr>
          <a:xfrm>
            <a:off x="2295109" y="848640"/>
            <a:ext cx="73596" cy="206215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36E412DD-0553-A582-38E6-77C194749AE6}"/>
              </a:ext>
            </a:extLst>
          </p:cNvPr>
          <p:cNvCxnSpPr>
            <a:cxnSpLocks/>
            <a:stCxn id="124" idx="2"/>
            <a:endCxn id="110" idx="0"/>
          </p:cNvCxnSpPr>
          <p:nvPr/>
        </p:nvCxnSpPr>
        <p:spPr>
          <a:xfrm>
            <a:off x="1910031" y="1149966"/>
            <a:ext cx="169791" cy="77159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CDCB2547-4A1F-5ECC-CDF8-BFE75F3496F9}"/>
              </a:ext>
            </a:extLst>
          </p:cNvPr>
          <p:cNvCxnSpPr>
            <a:cxnSpLocks/>
            <a:stCxn id="125" idx="2"/>
            <a:endCxn id="110" idx="0"/>
          </p:cNvCxnSpPr>
          <p:nvPr/>
        </p:nvCxnSpPr>
        <p:spPr>
          <a:xfrm flipH="1">
            <a:off x="2079822" y="1153378"/>
            <a:ext cx="66616" cy="73747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35EB7031-A6A9-305A-2DA7-79F68D2C9474}"/>
              </a:ext>
            </a:extLst>
          </p:cNvPr>
          <p:cNvCxnSpPr>
            <a:cxnSpLocks/>
            <a:stCxn id="189" idx="2"/>
            <a:endCxn id="112" idx="0"/>
          </p:cNvCxnSpPr>
          <p:nvPr/>
        </p:nvCxnSpPr>
        <p:spPr>
          <a:xfrm>
            <a:off x="2368705" y="1151034"/>
            <a:ext cx="7903" cy="76091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3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3DD3575-C678-1CA0-6994-0B546752200C}"/>
              </a:ext>
            </a:extLst>
          </p:cNvPr>
          <p:cNvGrpSpPr/>
          <p:nvPr/>
        </p:nvGrpSpPr>
        <p:grpSpPr>
          <a:xfrm>
            <a:off x="1710" y="-362900"/>
            <a:ext cx="2966727" cy="1977221"/>
            <a:chOff x="1710" y="-362900"/>
            <a:chExt cx="2966727" cy="1977221"/>
          </a:xfrm>
        </p:grpSpPr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A6DF2BCD-0C14-8B9B-5CB4-4DE0FE25C8D8}"/>
                </a:ext>
              </a:extLst>
            </p:cNvPr>
            <p:cNvGrpSpPr/>
            <p:nvPr/>
          </p:nvGrpSpPr>
          <p:grpSpPr>
            <a:xfrm>
              <a:off x="1710" y="-362900"/>
              <a:ext cx="2727129" cy="1977221"/>
              <a:chOff x="1710" y="-362900"/>
              <a:chExt cx="2727129" cy="1977221"/>
            </a:xfrm>
          </p:grpSpPr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3E164A6C-AFD5-1E7B-2C8B-F4351CEBAF04}"/>
                  </a:ext>
                </a:extLst>
              </p:cNvPr>
              <p:cNvGrpSpPr/>
              <p:nvPr/>
            </p:nvGrpSpPr>
            <p:grpSpPr>
              <a:xfrm>
                <a:off x="1710" y="-362900"/>
                <a:ext cx="2727129" cy="1977221"/>
                <a:chOff x="1710" y="-362900"/>
                <a:chExt cx="2727129" cy="1977221"/>
              </a:xfrm>
            </p:grpSpPr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E423FECC-8B2C-77E3-5B89-AE4F4D16A1DF}"/>
                    </a:ext>
                  </a:extLst>
                </p:cNvPr>
                <p:cNvSpPr/>
                <p:nvPr/>
              </p:nvSpPr>
              <p:spPr>
                <a:xfrm>
                  <a:off x="1238251" y="799219"/>
                  <a:ext cx="780094" cy="67850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4B85ADB8-BA91-A8D6-10DB-DA2A18D4598C}"/>
                    </a:ext>
                  </a:extLst>
                </p:cNvPr>
                <p:cNvSpPr/>
                <p:nvPr/>
              </p:nvSpPr>
              <p:spPr>
                <a:xfrm>
                  <a:off x="205323" y="799219"/>
                  <a:ext cx="474758" cy="678501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AE71E837-42D4-F7E0-3725-83376370907C}"/>
                    </a:ext>
                  </a:extLst>
                </p:cNvPr>
                <p:cNvSpPr/>
                <p:nvPr/>
              </p:nvSpPr>
              <p:spPr>
                <a:xfrm>
                  <a:off x="205322" y="-9751"/>
                  <a:ext cx="2431198" cy="309824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21979A20-02B5-98D1-34A3-A95A0006A656}"/>
                    </a:ext>
                  </a:extLst>
                </p:cNvPr>
                <p:cNvSpPr/>
                <p:nvPr/>
              </p:nvSpPr>
              <p:spPr>
                <a:xfrm>
                  <a:off x="205322" y="367480"/>
                  <a:ext cx="1813023" cy="356458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44D994E4-5088-EE3B-0AA1-DEC2993354C8}"/>
                    </a:ext>
                  </a:extLst>
                </p:cNvPr>
                <p:cNvSpPr/>
                <p:nvPr/>
              </p:nvSpPr>
              <p:spPr>
                <a:xfrm>
                  <a:off x="205322" y="-362900"/>
                  <a:ext cx="2442628" cy="13239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Applications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D15E56E3-810E-6B1D-D49F-1A03597BE363}"/>
                    </a:ext>
                  </a:extLst>
                </p:cNvPr>
                <p:cNvSpPr/>
                <p:nvPr/>
              </p:nvSpPr>
              <p:spPr>
                <a:xfrm>
                  <a:off x="297659" y="34103"/>
                  <a:ext cx="1048164" cy="13660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Non-Crypto Fingerprinting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1" name="直接箭头连接符 10">
                  <a:extLst>
                    <a:ext uri="{FF2B5EF4-FFF2-40B4-BE49-F238E27FC236}">
                      <a16:creationId xmlns:a16="http://schemas.microsoft.com/office/drawing/2014/main" id="{39AFAB74-6AEF-CF4E-2A68-9CEAAFCBE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381" y="-135032"/>
                  <a:ext cx="2625139" cy="0"/>
                </a:xfrm>
                <a:prstGeom prst="straightConnector1">
                  <a:avLst/>
                </a:prstGeom>
                <a:ln w="6350">
                  <a:prstDash val="dash"/>
                  <a:tailEnd type="non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7CA3F58-9E33-ED5A-5466-44B7CB4DC67C}"/>
                    </a:ext>
                  </a:extLst>
                </p:cNvPr>
                <p:cNvSpPr/>
                <p:nvPr/>
              </p:nvSpPr>
              <p:spPr>
                <a:xfrm>
                  <a:off x="735046" y="-215107"/>
                  <a:ext cx="1283299" cy="13660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 System Interface (write/read)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0F65FAEF-44A2-EC06-CA3F-982A6B903C26}"/>
                    </a:ext>
                  </a:extLst>
                </p:cNvPr>
                <p:cNvSpPr/>
                <p:nvPr/>
              </p:nvSpPr>
              <p:spPr>
                <a:xfrm rot="16200000">
                  <a:off x="-96983" y="1116678"/>
                  <a:ext cx="345043" cy="12536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Storage </a:t>
                  </a:r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1DA01BFE-0E63-2A03-9C3B-B809A236BAD0}"/>
                    </a:ext>
                  </a:extLst>
                </p:cNvPr>
                <p:cNvSpPr/>
                <p:nvPr/>
              </p:nvSpPr>
              <p:spPr>
                <a:xfrm rot="16200000">
                  <a:off x="-134530" y="480177"/>
                  <a:ext cx="397849" cy="12536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Memory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3C8CD307-B5AB-C294-4D85-470194B2F803}"/>
                    </a:ext>
                  </a:extLst>
                </p:cNvPr>
                <p:cNvSpPr/>
                <p:nvPr/>
              </p:nvSpPr>
              <p:spPr>
                <a:xfrm rot="16200000">
                  <a:off x="-51390" y="91734"/>
                  <a:ext cx="253855" cy="12536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CPU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60D81BA6-E1F8-270F-878F-C3405B86294E}"/>
                    </a:ext>
                  </a:extLst>
                </p:cNvPr>
                <p:cNvSpPr/>
                <p:nvPr/>
              </p:nvSpPr>
              <p:spPr>
                <a:xfrm>
                  <a:off x="1478640" y="34122"/>
                  <a:ext cx="1048164" cy="13660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Content Comparison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58" name="直接箭头连接符 257">
                  <a:extLst>
                    <a:ext uri="{FF2B5EF4-FFF2-40B4-BE49-F238E27FC236}">
                      <a16:creationId xmlns:a16="http://schemas.microsoft.com/office/drawing/2014/main" id="{E8BF98AB-9435-18EB-4595-6788FF04A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854" y="766288"/>
                  <a:ext cx="2650336" cy="0"/>
                </a:xfrm>
                <a:prstGeom prst="straightConnector1">
                  <a:avLst/>
                </a:prstGeom>
                <a:ln w="6350">
                  <a:prstDash val="dash"/>
                  <a:tailEnd type="non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400FB6CE-4A05-2925-CD84-95033AC1FF3D}"/>
                    </a:ext>
                  </a:extLst>
                </p:cNvPr>
                <p:cNvSpPr/>
                <p:nvPr/>
              </p:nvSpPr>
              <p:spPr>
                <a:xfrm>
                  <a:off x="347189" y="422480"/>
                  <a:ext cx="652981" cy="146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P1, REF: </a:t>
                  </a:r>
                  <a:r>
                    <a:rPr lang="en-US" altLang="zh-CN" sz="700" dirty="0">
                      <a:solidFill>
                        <a:srgbClr val="C00000"/>
                      </a:solidFill>
                    </a:rPr>
                    <a:t>2</a:t>
                  </a:r>
                  <a:endParaRPr lang="zh-CN" altLang="en-US" sz="70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9EBA6405-ED8E-CE5A-58C2-BDCD260B212B}"/>
                    </a:ext>
                  </a:extLst>
                </p:cNvPr>
                <p:cNvSpPr/>
                <p:nvPr/>
              </p:nvSpPr>
              <p:spPr>
                <a:xfrm>
                  <a:off x="1050381" y="422577"/>
                  <a:ext cx="652981" cy="146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FP2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P2, REF: 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5" name="矩形 264">
                  <a:extLst>
                    <a:ext uri="{FF2B5EF4-FFF2-40B4-BE49-F238E27FC236}">
                      <a16:creationId xmlns:a16="http://schemas.microsoft.com/office/drawing/2014/main" id="{419BF6B7-ACDA-4D5D-0015-80872263852C}"/>
                    </a:ext>
                  </a:extLst>
                </p:cNvPr>
                <p:cNvSpPr/>
                <p:nvPr/>
              </p:nvSpPr>
              <p:spPr>
                <a:xfrm>
                  <a:off x="1756378" y="422480"/>
                  <a:ext cx="169598" cy="146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5" name="直接箭头连接符 304">
                  <a:extLst>
                    <a:ext uri="{FF2B5EF4-FFF2-40B4-BE49-F238E27FC236}">
                      <a16:creationId xmlns:a16="http://schemas.microsoft.com/office/drawing/2014/main" id="{45D195E1-BBB9-E506-9900-B6CB790145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854" y="336493"/>
                  <a:ext cx="2635096" cy="0"/>
                </a:xfrm>
                <a:prstGeom prst="straightConnector1">
                  <a:avLst/>
                </a:prstGeom>
                <a:ln w="6350">
                  <a:prstDash val="dash"/>
                  <a:tailEnd type="non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8E69C23E-3ECE-0DDD-3249-761060C4F160}"/>
                    </a:ext>
                  </a:extLst>
                </p:cNvPr>
                <p:cNvSpPr/>
                <p:nvPr/>
              </p:nvSpPr>
              <p:spPr>
                <a:xfrm>
                  <a:off x="744002" y="914837"/>
                  <a:ext cx="381600" cy="20487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 1</a:t>
                  </a:r>
                </a:p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(inode 1)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9B39321C-7414-5E3D-04BB-139FD982DF63}"/>
                    </a:ext>
                  </a:extLst>
                </p:cNvPr>
                <p:cNvSpPr/>
                <p:nvPr/>
              </p:nvSpPr>
              <p:spPr>
                <a:xfrm>
                  <a:off x="1314931" y="850109"/>
                  <a:ext cx="648290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L1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00644B5-B978-DE39-3D66-172995E20923}"/>
                    </a:ext>
                  </a:extLst>
                </p:cNvPr>
                <p:cNvSpPr/>
                <p:nvPr/>
              </p:nvSpPr>
              <p:spPr>
                <a:xfrm>
                  <a:off x="1314931" y="1060496"/>
                  <a:ext cx="648290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600" dirty="0">
                      <a:solidFill>
                        <a:schemeClr val="tx1"/>
                      </a:solidFill>
                    </a:rPr>
                    <a:t>L2-L3</a:t>
                  </a:r>
                  <a:r>
                    <a:rPr lang="zh-CN" altLang="en-US" sz="6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600" b="1" dirty="0">
                      <a:solidFill>
                        <a:schemeClr val="tx1"/>
                      </a:solidFill>
                    </a:rPr>
                    <a:t>NIL</a:t>
                  </a:r>
                  <a:r>
                    <a:rPr lang="zh-CN" altLang="en-US" sz="6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600" dirty="0">
                      <a:solidFill>
                        <a:schemeClr val="tx1"/>
                      </a:solidFill>
                    </a:rPr>
                    <a:t>P2-P3</a:t>
                  </a:r>
                  <a:endParaRPr lang="zh-CN" altLang="en-US" sz="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6" name="直接箭头连接符 15">
                  <a:extLst>
                    <a:ext uri="{FF2B5EF4-FFF2-40B4-BE49-F238E27FC236}">
                      <a16:creationId xmlns:a16="http://schemas.microsoft.com/office/drawing/2014/main" id="{BBDC4F57-3AD2-2D05-208E-6FC75E3E8F21}"/>
                    </a:ext>
                  </a:extLst>
                </p:cNvPr>
                <p:cNvCxnSpPr>
                  <a:cxnSpLocks/>
                  <a:stCxn id="13" idx="3"/>
                  <a:endCxn id="15" idx="1"/>
                </p:cNvCxnSpPr>
                <p:nvPr/>
              </p:nvCxnSpPr>
              <p:spPr>
                <a:xfrm>
                  <a:off x="1125602" y="1017274"/>
                  <a:ext cx="189329" cy="115612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箭头连接符 16">
                  <a:extLst>
                    <a:ext uri="{FF2B5EF4-FFF2-40B4-BE49-F238E27FC236}">
                      <a16:creationId xmlns:a16="http://schemas.microsoft.com/office/drawing/2014/main" id="{450F2BA8-0E62-885F-F2E6-298F592459DC}"/>
                    </a:ext>
                  </a:extLst>
                </p:cNvPr>
                <p:cNvCxnSpPr>
                  <a:cxnSpLocks/>
                  <a:stCxn id="13" idx="3"/>
                  <a:endCxn id="14" idx="1"/>
                </p:cNvCxnSpPr>
                <p:nvPr/>
              </p:nvCxnSpPr>
              <p:spPr>
                <a:xfrm flipV="1">
                  <a:off x="1125602" y="922499"/>
                  <a:ext cx="189329" cy="94775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F3A8C285-DA38-3713-3189-A6A9EB48D284}"/>
                    </a:ext>
                  </a:extLst>
                </p:cNvPr>
                <p:cNvSpPr/>
                <p:nvPr/>
              </p:nvSpPr>
              <p:spPr>
                <a:xfrm>
                  <a:off x="744002" y="1168969"/>
                  <a:ext cx="379767" cy="204874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 2</a:t>
                  </a:r>
                </a:p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(inode 2)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84270444-B3E6-5DC5-E1D2-A747423EA66B}"/>
                    </a:ext>
                  </a:extLst>
                </p:cNvPr>
                <p:cNvSpPr/>
                <p:nvPr/>
              </p:nvSpPr>
              <p:spPr>
                <a:xfrm>
                  <a:off x="1314932" y="1282056"/>
                  <a:ext cx="648290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rgbClr val="C00000"/>
                      </a:solidFill>
                    </a:rPr>
                    <a:t>L1</a:t>
                  </a:r>
                  <a:r>
                    <a:rPr lang="zh-CN" altLang="en-US" sz="700" dirty="0">
                      <a:solidFill>
                        <a:srgbClr val="C00000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rgbClr val="C00000"/>
                      </a:solidFill>
                    </a:rPr>
                    <a:t>FP1</a:t>
                  </a:r>
                  <a:r>
                    <a:rPr lang="zh-CN" altLang="en-US" sz="700" dirty="0">
                      <a:solidFill>
                        <a:srgbClr val="C00000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rgbClr val="C00000"/>
                      </a:solidFill>
                    </a:rPr>
                    <a:t>P1</a:t>
                  </a:r>
                  <a:endParaRPr lang="zh-CN" altLang="en-US" sz="70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B131FA7A-9352-BB21-43EC-D0D13264344F}"/>
                    </a:ext>
                  </a:extLst>
                </p:cNvPr>
                <p:cNvCxnSpPr>
                  <a:cxnSpLocks/>
                  <a:stCxn id="41" idx="3"/>
                  <a:endCxn id="42" idx="1"/>
                </p:cNvCxnSpPr>
                <p:nvPr/>
              </p:nvCxnSpPr>
              <p:spPr>
                <a:xfrm>
                  <a:off x="1123769" y="1271406"/>
                  <a:ext cx="191163" cy="8304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7C868BCF-63B7-E778-D827-163BFBA276A0}"/>
                    </a:ext>
                  </a:extLst>
                </p:cNvPr>
                <p:cNvCxnSpPr>
                  <a:cxnSpLocks/>
                  <a:stCxn id="57" idx="0"/>
                </p:cNvCxnSpPr>
                <p:nvPr/>
              </p:nvCxnSpPr>
              <p:spPr>
                <a:xfrm flipV="1">
                  <a:off x="2380365" y="163830"/>
                  <a:ext cx="0" cy="758670"/>
                </a:xfrm>
                <a:prstGeom prst="straightConnector1">
                  <a:avLst/>
                </a:prstGeom>
                <a:ln w="6350">
                  <a:solidFill>
                    <a:srgbClr val="C00000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AA670C26-7A46-086B-01AD-AC37F3ADA05F}"/>
                    </a:ext>
                  </a:extLst>
                </p:cNvPr>
                <p:cNvCxnSpPr>
                  <a:cxnSpLocks/>
                  <a:stCxn id="14" idx="3"/>
                  <a:endCxn id="57" idx="1"/>
                </p:cNvCxnSpPr>
                <p:nvPr/>
              </p:nvCxnSpPr>
              <p:spPr>
                <a:xfrm>
                  <a:off x="1963221" y="922499"/>
                  <a:ext cx="226344" cy="56939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>
                  <a:extLst>
                    <a:ext uri="{FF2B5EF4-FFF2-40B4-BE49-F238E27FC236}">
                      <a16:creationId xmlns:a16="http://schemas.microsoft.com/office/drawing/2014/main" id="{9CB3B480-5492-96BD-FAD5-2809248C611F}"/>
                    </a:ext>
                  </a:extLst>
                </p:cNvPr>
                <p:cNvCxnSpPr>
                  <a:cxnSpLocks/>
                  <a:stCxn id="42" idx="3"/>
                  <a:endCxn id="57" idx="1"/>
                </p:cNvCxnSpPr>
                <p:nvPr/>
              </p:nvCxnSpPr>
              <p:spPr>
                <a:xfrm flipV="1">
                  <a:off x="1963222" y="979438"/>
                  <a:ext cx="226343" cy="375008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>
                  <a:extLst>
                    <a:ext uri="{FF2B5EF4-FFF2-40B4-BE49-F238E27FC236}">
                      <a16:creationId xmlns:a16="http://schemas.microsoft.com/office/drawing/2014/main" id="{464142FD-CA6A-399C-A87C-2196D857556F}"/>
                    </a:ext>
                  </a:extLst>
                </p:cNvPr>
                <p:cNvCxnSpPr>
                  <a:cxnSpLocks/>
                  <a:stCxn id="15" idx="3"/>
                  <a:endCxn id="58" idx="1"/>
                </p:cNvCxnSpPr>
                <p:nvPr/>
              </p:nvCxnSpPr>
              <p:spPr>
                <a:xfrm flipV="1">
                  <a:off x="1963221" y="1091791"/>
                  <a:ext cx="226344" cy="41095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25" name="组合 124">
                  <a:extLst>
                    <a:ext uri="{FF2B5EF4-FFF2-40B4-BE49-F238E27FC236}">
                      <a16:creationId xmlns:a16="http://schemas.microsoft.com/office/drawing/2014/main" id="{2FD31330-5226-FFDC-980E-BAFB504D76AA}"/>
                    </a:ext>
                  </a:extLst>
                </p:cNvPr>
                <p:cNvGrpSpPr/>
                <p:nvPr/>
              </p:nvGrpSpPr>
              <p:grpSpPr>
                <a:xfrm>
                  <a:off x="2189565" y="922500"/>
                  <a:ext cx="381600" cy="451344"/>
                  <a:chOff x="2266350" y="922499"/>
                  <a:chExt cx="381600" cy="573833"/>
                </a:xfrm>
              </p:grpSpPr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A9A34913-9AF8-BE92-B0B0-3208F168BFFB}"/>
                      </a:ext>
                    </a:extLst>
                  </p:cNvPr>
                  <p:cNvSpPr/>
                  <p:nvPr/>
                </p:nvSpPr>
                <p:spPr>
                  <a:xfrm>
                    <a:off x="2266350" y="922499"/>
                    <a:ext cx="381600" cy="14477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Block 1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91DD63F2-68D3-689F-1E3C-C912F8E7EF61}"/>
                      </a:ext>
                    </a:extLst>
                  </p:cNvPr>
                  <p:cNvSpPr/>
                  <p:nvPr/>
                </p:nvSpPr>
                <p:spPr>
                  <a:xfrm>
                    <a:off x="2266350" y="1065734"/>
                    <a:ext cx="381600" cy="14400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Block 2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矩形 210">
                    <a:extLst>
                      <a:ext uri="{FF2B5EF4-FFF2-40B4-BE49-F238E27FC236}">
                        <a16:creationId xmlns:a16="http://schemas.microsoft.com/office/drawing/2014/main" id="{2AA6759F-1E2F-5CC8-E882-32F1DF49FEB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385295" y="1234448"/>
                    <a:ext cx="144001" cy="379768"/>
                  </a:xfrm>
                  <a:custGeom>
                    <a:avLst/>
                    <a:gdLst>
                      <a:gd name="connsiteX0" fmla="*/ 0 w 132795"/>
                      <a:gd name="connsiteY0" fmla="*/ 0 h 179017"/>
                      <a:gd name="connsiteX1" fmla="*/ 132795 w 132795"/>
                      <a:gd name="connsiteY1" fmla="*/ 0 h 179017"/>
                      <a:gd name="connsiteX2" fmla="*/ 132795 w 132795"/>
                      <a:gd name="connsiteY2" fmla="*/ 179017 h 179017"/>
                      <a:gd name="connsiteX3" fmla="*/ 0 w 132795"/>
                      <a:gd name="connsiteY3" fmla="*/ 179017 h 179017"/>
                      <a:gd name="connsiteX4" fmla="*/ 0 w 132795"/>
                      <a:gd name="connsiteY4" fmla="*/ 0 h 179017"/>
                      <a:gd name="connsiteX0" fmla="*/ 0 w 132941"/>
                      <a:gd name="connsiteY0" fmla="*/ 0 h 179017"/>
                      <a:gd name="connsiteX1" fmla="*/ 132795 w 132941"/>
                      <a:gd name="connsiteY1" fmla="*/ 0 h 179017"/>
                      <a:gd name="connsiteX2" fmla="*/ 132941 w 132941"/>
                      <a:gd name="connsiteY2" fmla="*/ 36704 h 179017"/>
                      <a:gd name="connsiteX3" fmla="*/ 132795 w 132941"/>
                      <a:gd name="connsiteY3" fmla="*/ 179017 h 179017"/>
                      <a:gd name="connsiteX4" fmla="*/ 0 w 132941"/>
                      <a:gd name="connsiteY4" fmla="*/ 179017 h 179017"/>
                      <a:gd name="connsiteX5" fmla="*/ 0 w 132941"/>
                      <a:gd name="connsiteY5" fmla="*/ 0 h 1790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2941" h="179017">
                        <a:moveTo>
                          <a:pt x="0" y="0"/>
                        </a:moveTo>
                        <a:lnTo>
                          <a:pt x="132795" y="0"/>
                        </a:lnTo>
                        <a:cubicBezTo>
                          <a:pt x="132844" y="12235"/>
                          <a:pt x="132892" y="24469"/>
                          <a:pt x="132941" y="36704"/>
                        </a:cubicBezTo>
                        <a:cubicBezTo>
                          <a:pt x="132892" y="84142"/>
                          <a:pt x="132844" y="131579"/>
                          <a:pt x="132795" y="179017"/>
                        </a:cubicBezTo>
                        <a:lnTo>
                          <a:pt x="0" y="17901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b="1" dirty="0">
                        <a:solidFill>
                          <a:schemeClr val="tx1"/>
                        </a:solidFill>
                      </a:rPr>
                      <a:t>···</a:t>
                    </a:r>
                    <a:endParaRPr lang="zh-CN" altLang="en-US" sz="7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" name="矩形 85">
                    <a:extLst>
                      <a:ext uri="{FF2B5EF4-FFF2-40B4-BE49-F238E27FC236}">
                        <a16:creationId xmlns:a16="http://schemas.microsoft.com/office/drawing/2014/main" id="{2BD348B7-0FBE-DBF7-3E30-77DE53134BFA}"/>
                      </a:ext>
                    </a:extLst>
                  </p:cNvPr>
                  <p:cNvSpPr/>
                  <p:nvPr/>
                </p:nvSpPr>
                <p:spPr>
                  <a:xfrm>
                    <a:off x="2266350" y="1208721"/>
                    <a:ext cx="381600" cy="14400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Block 3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C1696A67-30C2-C064-6758-560BBA7C8346}"/>
                    </a:ext>
                  </a:extLst>
                </p:cNvPr>
                <p:cNvSpPr/>
                <p:nvPr/>
              </p:nvSpPr>
              <p:spPr>
                <a:xfrm>
                  <a:off x="297658" y="850109"/>
                  <a:ext cx="291975" cy="14477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FP2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274F31B7-2628-BF7B-CBF7-E3D0F1365F98}"/>
                    </a:ext>
                  </a:extLst>
                </p:cNvPr>
                <p:cNvSpPr/>
                <p:nvPr/>
              </p:nvSpPr>
              <p:spPr>
                <a:xfrm>
                  <a:off x="297658" y="993344"/>
                  <a:ext cx="291975" cy="1440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FP3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矩形 210">
                  <a:extLst>
                    <a:ext uri="{FF2B5EF4-FFF2-40B4-BE49-F238E27FC236}">
                      <a16:creationId xmlns:a16="http://schemas.microsoft.com/office/drawing/2014/main" id="{EA433B63-C7BC-35AE-78EE-D333523608CB}"/>
                    </a:ext>
                  </a:extLst>
                </p:cNvPr>
                <p:cNvSpPr/>
                <p:nvPr/>
              </p:nvSpPr>
              <p:spPr>
                <a:xfrm rot="16200000">
                  <a:off x="315902" y="1102280"/>
                  <a:ext cx="255712" cy="290573"/>
                </a:xfrm>
                <a:custGeom>
                  <a:avLst/>
                  <a:gdLst>
                    <a:gd name="connsiteX0" fmla="*/ 0 w 132795"/>
                    <a:gd name="connsiteY0" fmla="*/ 0 h 179017"/>
                    <a:gd name="connsiteX1" fmla="*/ 132795 w 132795"/>
                    <a:gd name="connsiteY1" fmla="*/ 0 h 179017"/>
                    <a:gd name="connsiteX2" fmla="*/ 132795 w 132795"/>
                    <a:gd name="connsiteY2" fmla="*/ 179017 h 179017"/>
                    <a:gd name="connsiteX3" fmla="*/ 0 w 132795"/>
                    <a:gd name="connsiteY3" fmla="*/ 179017 h 179017"/>
                    <a:gd name="connsiteX4" fmla="*/ 0 w 132795"/>
                    <a:gd name="connsiteY4" fmla="*/ 0 h 179017"/>
                    <a:gd name="connsiteX0" fmla="*/ 0 w 132941"/>
                    <a:gd name="connsiteY0" fmla="*/ 0 h 179017"/>
                    <a:gd name="connsiteX1" fmla="*/ 132795 w 132941"/>
                    <a:gd name="connsiteY1" fmla="*/ 0 h 179017"/>
                    <a:gd name="connsiteX2" fmla="*/ 132941 w 132941"/>
                    <a:gd name="connsiteY2" fmla="*/ 36704 h 179017"/>
                    <a:gd name="connsiteX3" fmla="*/ 132795 w 132941"/>
                    <a:gd name="connsiteY3" fmla="*/ 179017 h 179017"/>
                    <a:gd name="connsiteX4" fmla="*/ 0 w 132941"/>
                    <a:gd name="connsiteY4" fmla="*/ 179017 h 179017"/>
                    <a:gd name="connsiteX5" fmla="*/ 0 w 132941"/>
                    <a:gd name="connsiteY5" fmla="*/ 0 h 179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2941" h="179017">
                      <a:moveTo>
                        <a:pt x="0" y="0"/>
                      </a:moveTo>
                      <a:lnTo>
                        <a:pt x="132795" y="0"/>
                      </a:lnTo>
                      <a:cubicBezTo>
                        <a:pt x="132844" y="12235"/>
                        <a:pt x="132892" y="24469"/>
                        <a:pt x="132941" y="36704"/>
                      </a:cubicBezTo>
                      <a:cubicBezTo>
                        <a:pt x="132892" y="84142"/>
                        <a:pt x="132844" y="131579"/>
                        <a:pt x="132795" y="179017"/>
                      </a:cubicBezTo>
                      <a:lnTo>
                        <a:pt x="0" y="1790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F2C54890-459F-328C-CFA9-36B32E006610}"/>
                    </a:ext>
                  </a:extLst>
                </p:cNvPr>
                <p:cNvSpPr/>
                <p:nvPr/>
              </p:nvSpPr>
              <p:spPr>
                <a:xfrm>
                  <a:off x="231687" y="573349"/>
                  <a:ext cx="929635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Global LFP Table (GLT)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10951752-8CA1-F00E-B169-1BF9F0D5D004}"/>
                    </a:ext>
                  </a:extLst>
                </p:cNvPr>
                <p:cNvSpPr/>
                <p:nvPr/>
              </p:nvSpPr>
              <p:spPr>
                <a:xfrm>
                  <a:off x="188422" y="1477719"/>
                  <a:ext cx="960538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Overflow FP Table (OFT)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EBFD273F-B7D7-F798-ADD8-B032BA51F028}"/>
                    </a:ext>
                  </a:extLst>
                </p:cNvPr>
                <p:cNvSpPr/>
                <p:nvPr/>
              </p:nvSpPr>
              <p:spPr>
                <a:xfrm>
                  <a:off x="968576" y="166914"/>
                  <a:ext cx="929635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Duplication Identifier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D90F9F6C-6E86-C472-CF6C-F52D34468995}"/>
                    </a:ext>
                  </a:extLst>
                </p:cNvPr>
                <p:cNvSpPr/>
                <p:nvPr/>
              </p:nvSpPr>
              <p:spPr>
                <a:xfrm>
                  <a:off x="1390918" y="1477719"/>
                  <a:ext cx="474759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</a:rPr>
                    <a:t>LFP Entries</a:t>
                  </a:r>
                  <a:endParaRPr lang="zh-CN" altLang="en-US" sz="7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95DA7D4B-E9EA-1C3E-9561-45D270D249AA}"/>
                    </a:ext>
                  </a:extLst>
                </p:cNvPr>
                <p:cNvSpPr/>
                <p:nvPr/>
              </p:nvSpPr>
              <p:spPr>
                <a:xfrm>
                  <a:off x="696505" y="774146"/>
                  <a:ext cx="474759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i="1" dirty="0">
                      <a:solidFill>
                        <a:schemeClr val="tx1"/>
                      </a:solidFill>
                    </a:rPr>
                    <a:t>FS Inode</a:t>
                  </a:r>
                  <a:endParaRPr lang="zh-CN" altLang="en-US" sz="7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矩形 128">
                  <a:extLst>
                    <a:ext uri="{FF2B5EF4-FFF2-40B4-BE49-F238E27FC236}">
                      <a16:creationId xmlns:a16="http://schemas.microsoft.com/office/drawing/2014/main" id="{86817498-9750-154D-1A9E-98E6DBEA3955}"/>
                    </a:ext>
                  </a:extLst>
                </p:cNvPr>
                <p:cNvSpPr/>
                <p:nvPr/>
              </p:nvSpPr>
              <p:spPr>
                <a:xfrm>
                  <a:off x="2169476" y="774146"/>
                  <a:ext cx="467044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i="1" dirty="0">
                      <a:solidFill>
                        <a:schemeClr val="tx1"/>
                      </a:solidFill>
                    </a:rPr>
                    <a:t>Data Blocks</a:t>
                  </a:r>
                  <a:endParaRPr lang="zh-CN" altLang="en-US" sz="700" i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1" name="连接符: 曲线 130">
                  <a:extLst>
                    <a:ext uri="{FF2B5EF4-FFF2-40B4-BE49-F238E27FC236}">
                      <a16:creationId xmlns:a16="http://schemas.microsoft.com/office/drawing/2014/main" id="{79095339-AD51-B4CA-23B3-ABBD8DF2809C}"/>
                    </a:ext>
                  </a:extLst>
                </p:cNvPr>
                <p:cNvCxnSpPr>
                  <a:cxnSpLocks/>
                  <a:stCxn id="12" idx="2"/>
                  <a:endCxn id="9" idx="0"/>
                </p:cNvCxnSpPr>
                <p:nvPr/>
              </p:nvCxnSpPr>
              <p:spPr>
                <a:xfrm rot="5400000">
                  <a:off x="1042915" y="-299678"/>
                  <a:ext cx="112608" cy="554955"/>
                </a:xfrm>
                <a:prstGeom prst="curvedConnector3">
                  <a:avLst/>
                </a:prstGeom>
                <a:ln w="6350">
                  <a:solidFill>
                    <a:srgbClr val="C00000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25B55AF9-9876-8491-7A1A-49D60D1F0221}"/>
                    </a:ext>
                  </a:extLst>
                </p:cNvPr>
                <p:cNvSpPr/>
                <p:nvPr/>
              </p:nvSpPr>
              <p:spPr>
                <a:xfrm>
                  <a:off x="282222" y="-136503"/>
                  <a:ext cx="554956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600" i="1" dirty="0">
                      <a:solidFill>
                        <a:srgbClr val="C00000"/>
                      </a:solidFill>
                    </a:rPr>
                    <a:t>Input Block</a:t>
                  </a:r>
                  <a:endParaRPr lang="zh-CN" altLang="en-US" sz="600" i="1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35" name="直接箭头连接符 134">
                  <a:extLst>
                    <a:ext uri="{FF2B5EF4-FFF2-40B4-BE49-F238E27FC236}">
                      <a16:creationId xmlns:a16="http://schemas.microsoft.com/office/drawing/2014/main" id="{3A2CF268-9928-956E-E5A7-3AC22980870E}"/>
                    </a:ext>
                  </a:extLst>
                </p:cNvPr>
                <p:cNvCxnSpPr>
                  <a:cxnSpLocks/>
                  <a:stCxn id="9" idx="2"/>
                </p:cNvCxnSpPr>
                <p:nvPr/>
              </p:nvCxnSpPr>
              <p:spPr>
                <a:xfrm>
                  <a:off x="821741" y="170705"/>
                  <a:ext cx="0" cy="191245"/>
                </a:xfrm>
                <a:prstGeom prst="straightConnector1">
                  <a:avLst/>
                </a:prstGeom>
                <a:ln w="6350">
                  <a:solidFill>
                    <a:srgbClr val="C00000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70737B85-7A2E-31C1-8585-70C30312AB84}"/>
                    </a:ext>
                  </a:extLst>
                </p:cNvPr>
                <p:cNvSpPr/>
                <p:nvPr/>
              </p:nvSpPr>
              <p:spPr>
                <a:xfrm>
                  <a:off x="266785" y="169347"/>
                  <a:ext cx="554956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zh-CN" altLang="en-US" sz="600" dirty="0">
                      <a:solidFill>
                        <a:srgbClr val="C00000"/>
                      </a:solidFill>
                    </a:rPr>
                    <a:t>① </a:t>
                  </a:r>
                  <a:r>
                    <a:rPr lang="en-US" altLang="zh-CN" sz="600" i="1" dirty="0">
                      <a:solidFill>
                        <a:srgbClr val="C00000"/>
                      </a:solidFill>
                    </a:rPr>
                    <a:t>Calc FP</a:t>
                  </a:r>
                  <a:endParaRPr lang="zh-CN" altLang="en-US" sz="600" i="1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40" name="直接箭头连接符 139">
                  <a:extLst>
                    <a:ext uri="{FF2B5EF4-FFF2-40B4-BE49-F238E27FC236}">
                      <a16:creationId xmlns:a16="http://schemas.microsoft.com/office/drawing/2014/main" id="{1A172CEE-82E6-D3F1-8002-7C8A4EEC9EDE}"/>
                    </a:ext>
                  </a:extLst>
                </p:cNvPr>
                <p:cNvCxnSpPr>
                  <a:cxnSpLocks/>
                  <a:stCxn id="266" idx="3"/>
                  <a:endCxn id="57" idx="1"/>
                </p:cNvCxnSpPr>
                <p:nvPr/>
              </p:nvCxnSpPr>
              <p:spPr>
                <a:xfrm>
                  <a:off x="2018345" y="545709"/>
                  <a:ext cx="171220" cy="433729"/>
                </a:xfrm>
                <a:prstGeom prst="straightConnector1">
                  <a:avLst/>
                </a:prstGeom>
                <a:ln w="6350">
                  <a:solidFill>
                    <a:srgbClr val="C00000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CFD0A5E0-C891-3EA7-75CA-DB828F600974}"/>
                    </a:ext>
                  </a:extLst>
                </p:cNvPr>
                <p:cNvSpPr/>
                <p:nvPr/>
              </p:nvSpPr>
              <p:spPr>
                <a:xfrm>
                  <a:off x="1127498" y="575946"/>
                  <a:ext cx="812604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zh-CN" altLang="en-US" sz="600" dirty="0">
                      <a:solidFill>
                        <a:srgbClr val="C00000"/>
                      </a:solidFill>
                    </a:rPr>
                    <a:t>② </a:t>
                  </a:r>
                  <a:r>
                    <a:rPr lang="en-US" altLang="zh-CN" sz="600" i="1" dirty="0">
                      <a:solidFill>
                        <a:srgbClr val="C00000"/>
                      </a:solidFill>
                    </a:rPr>
                    <a:t>Lookup FP &amp; PBN</a:t>
                  </a:r>
                  <a:endParaRPr lang="zh-CN" altLang="en-US" sz="600" i="1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152B8FE0-EFFB-AFF5-78A0-AC6F9D60BC71}"/>
                    </a:ext>
                  </a:extLst>
                </p:cNvPr>
                <p:cNvSpPr/>
                <p:nvPr/>
              </p:nvSpPr>
              <p:spPr>
                <a:xfrm>
                  <a:off x="2103955" y="476797"/>
                  <a:ext cx="568227" cy="13660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zh-CN" altLang="en-US" sz="600" dirty="0">
                      <a:solidFill>
                        <a:srgbClr val="C00000"/>
                      </a:solidFill>
                    </a:rPr>
                    <a:t>③ </a:t>
                  </a:r>
                  <a:r>
                    <a:rPr lang="en-US" altLang="zh-CN" sz="600" i="1" dirty="0">
                      <a:solidFill>
                        <a:srgbClr val="C00000"/>
                      </a:solidFill>
                    </a:rPr>
                    <a:t>Read Data</a:t>
                  </a:r>
                  <a:endParaRPr lang="zh-CN" altLang="en-US" sz="600" i="1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50" name="连接符: 曲线 149">
                  <a:extLst>
                    <a:ext uri="{FF2B5EF4-FFF2-40B4-BE49-F238E27FC236}">
                      <a16:creationId xmlns:a16="http://schemas.microsoft.com/office/drawing/2014/main" id="{F93E5760-78F7-6ED3-2229-2CFD03725967}"/>
                    </a:ext>
                  </a:extLst>
                </p:cNvPr>
                <p:cNvCxnSpPr>
                  <a:cxnSpLocks/>
                  <a:stCxn id="12" idx="2"/>
                  <a:endCxn id="73" idx="0"/>
                </p:cNvCxnSpPr>
                <p:nvPr/>
              </p:nvCxnSpPr>
              <p:spPr>
                <a:xfrm rot="16200000" flipH="1">
                  <a:off x="1633396" y="-335205"/>
                  <a:ext cx="112627" cy="626026"/>
                </a:xfrm>
                <a:prstGeom prst="curvedConnector3">
                  <a:avLst>
                    <a:gd name="adj1" fmla="val 50000"/>
                  </a:avLst>
                </a:prstGeom>
                <a:ln w="6350">
                  <a:solidFill>
                    <a:srgbClr val="C00000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786DCC09-9FE1-4D11-D90F-73E086E48BAC}"/>
                    </a:ext>
                  </a:extLst>
                </p:cNvPr>
                <p:cNvSpPr/>
                <p:nvPr/>
              </p:nvSpPr>
              <p:spPr>
                <a:xfrm>
                  <a:off x="2002722" y="-136503"/>
                  <a:ext cx="626026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600" i="1" dirty="0">
                      <a:solidFill>
                        <a:srgbClr val="C00000"/>
                      </a:solidFill>
                    </a:rPr>
                    <a:t>Input Block</a:t>
                  </a:r>
                  <a:endParaRPr lang="zh-CN" altLang="en-US" sz="600" i="1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758639E8-1215-4012-F98D-1E0BD20C0818}"/>
                    </a:ext>
                  </a:extLst>
                </p:cNvPr>
                <p:cNvSpPr/>
                <p:nvPr/>
              </p:nvSpPr>
              <p:spPr>
                <a:xfrm>
                  <a:off x="2047297" y="1439863"/>
                  <a:ext cx="681542" cy="13660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zh-CN" altLang="en-US" sz="600" dirty="0">
                      <a:solidFill>
                        <a:srgbClr val="C00000"/>
                      </a:solidFill>
                    </a:rPr>
                    <a:t>④ </a:t>
                  </a:r>
                  <a:r>
                    <a:rPr lang="en-US" altLang="zh-CN" sz="600" i="1" dirty="0">
                      <a:solidFill>
                        <a:srgbClr val="C00000"/>
                      </a:solidFill>
                    </a:rPr>
                    <a:t>Write L2P Entry &amp; Update GLT</a:t>
                  </a:r>
                  <a:endParaRPr lang="zh-CN" altLang="en-US" sz="600" i="1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55" name="直接箭头连接符 154">
                  <a:extLst>
                    <a:ext uri="{FF2B5EF4-FFF2-40B4-BE49-F238E27FC236}">
                      <a16:creationId xmlns:a16="http://schemas.microsoft.com/office/drawing/2014/main" id="{5F4B0B10-3731-4218-B629-6EB4F0CEA688}"/>
                    </a:ext>
                  </a:extLst>
                </p:cNvPr>
                <p:cNvCxnSpPr>
                  <a:cxnSpLocks/>
                  <a:stCxn id="154" idx="1"/>
                  <a:endCxn id="42" idx="3"/>
                </p:cNvCxnSpPr>
                <p:nvPr/>
              </p:nvCxnSpPr>
              <p:spPr>
                <a:xfrm flipH="1" flipV="1">
                  <a:off x="1963222" y="1354446"/>
                  <a:ext cx="84075" cy="153718"/>
                </a:xfrm>
                <a:prstGeom prst="straightConnector1">
                  <a:avLst/>
                </a:prstGeom>
                <a:ln w="6350">
                  <a:solidFill>
                    <a:srgbClr val="C00000"/>
                  </a:solidFill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86B44E53-818C-FE24-CD8A-A0DDEFF8E09C}"/>
                    </a:ext>
                  </a:extLst>
                </p:cNvPr>
                <p:cNvSpPr/>
                <p:nvPr/>
              </p:nvSpPr>
              <p:spPr>
                <a:xfrm>
                  <a:off x="193748" y="425849"/>
                  <a:ext cx="157395" cy="13660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zh-CN" altLang="en-US" sz="600" dirty="0">
                      <a:solidFill>
                        <a:srgbClr val="C00000"/>
                      </a:solidFill>
                    </a:rPr>
                    <a:t>④ </a:t>
                  </a:r>
                </a:p>
              </p:txBody>
            </p:sp>
            <p:cxnSp>
              <p:nvCxnSpPr>
                <p:cNvPr id="163" name="直接箭头连接符 162">
                  <a:extLst>
                    <a:ext uri="{FF2B5EF4-FFF2-40B4-BE49-F238E27FC236}">
                      <a16:creationId xmlns:a16="http://schemas.microsoft.com/office/drawing/2014/main" id="{DBB45021-463A-EB4D-8F0B-284F503915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381" y="1614321"/>
                  <a:ext cx="2625139" cy="0"/>
                </a:xfrm>
                <a:prstGeom prst="straightConnector1">
                  <a:avLst/>
                </a:prstGeom>
                <a:ln w="6350">
                  <a:prstDash val="dash"/>
                  <a:tailEnd type="non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65" name="图形 164" descr="锁定">
                <a:extLst>
                  <a:ext uri="{FF2B5EF4-FFF2-40B4-BE49-F238E27FC236}">
                    <a16:creationId xmlns:a16="http://schemas.microsoft.com/office/drawing/2014/main" id="{17590944-9E6E-2BBE-E354-443A6B440A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68449" y="574790"/>
                <a:ext cx="135707" cy="135707"/>
              </a:xfrm>
              <a:prstGeom prst="rect">
                <a:avLst/>
              </a:prstGeom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34C4312-4ECD-2E30-3876-FBBEBA00E170}"/>
                </a:ext>
              </a:extLst>
            </p:cNvPr>
            <p:cNvSpPr/>
            <p:nvPr/>
          </p:nvSpPr>
          <p:spPr>
            <a:xfrm rot="16200000">
              <a:off x="2486293" y="718157"/>
              <a:ext cx="787325" cy="176963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b="1" dirty="0" err="1">
                  <a:solidFill>
                    <a:schemeClr val="tx1"/>
                  </a:solidFill>
                </a:rPr>
                <a:t>GogetaFS</a:t>
              </a:r>
              <a:endParaRPr lang="zh-CN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右大括号 2">
              <a:extLst>
                <a:ext uri="{FF2B5EF4-FFF2-40B4-BE49-F238E27FC236}">
                  <a16:creationId xmlns:a16="http://schemas.microsoft.com/office/drawing/2014/main" id="{34891030-2BAD-54B1-620B-BBAB2F714A9F}"/>
                </a:ext>
              </a:extLst>
            </p:cNvPr>
            <p:cNvSpPr/>
            <p:nvPr/>
          </p:nvSpPr>
          <p:spPr>
            <a:xfrm>
              <a:off x="2712839" y="-9751"/>
              <a:ext cx="105301" cy="162407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2807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34477F4-B854-8D7C-E781-3BE1743C7662}"/>
              </a:ext>
            </a:extLst>
          </p:cNvPr>
          <p:cNvSpPr/>
          <p:nvPr/>
        </p:nvSpPr>
        <p:spPr>
          <a:xfrm>
            <a:off x="48577" y="866298"/>
            <a:ext cx="885825" cy="35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A48821D-D6D9-26FE-3C30-63D7B186A7BA}"/>
              </a:ext>
            </a:extLst>
          </p:cNvPr>
          <p:cNvGrpSpPr/>
          <p:nvPr/>
        </p:nvGrpSpPr>
        <p:grpSpPr>
          <a:xfrm>
            <a:off x="179491" y="92712"/>
            <a:ext cx="635317" cy="126206"/>
            <a:chOff x="266700" y="373380"/>
            <a:chExt cx="762000" cy="2133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A5ECE53-0847-FFB8-2DAB-6772B2C08F8B}"/>
                </a:ext>
              </a:extLst>
            </p:cNvPr>
            <p:cNvSpPr/>
            <p:nvPr/>
          </p:nvSpPr>
          <p:spPr>
            <a:xfrm>
              <a:off x="266700" y="373380"/>
              <a:ext cx="220980" cy="2133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FP1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75115C-0925-5FB9-F4F7-B6FB3F7DF0E0}"/>
                </a:ext>
              </a:extLst>
            </p:cNvPr>
            <p:cNvSpPr/>
            <p:nvPr/>
          </p:nvSpPr>
          <p:spPr>
            <a:xfrm>
              <a:off x="537210" y="373380"/>
              <a:ext cx="220980" cy="2133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FP2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366759B-3915-CED3-03D4-2BEB87E5AB6F}"/>
                </a:ext>
              </a:extLst>
            </p:cNvPr>
            <p:cNvSpPr/>
            <p:nvPr/>
          </p:nvSpPr>
          <p:spPr>
            <a:xfrm>
              <a:off x="807720" y="373380"/>
              <a:ext cx="220980" cy="2133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FP3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4B805B0-2F09-CEFC-CF79-E611328221C0}"/>
              </a:ext>
            </a:extLst>
          </p:cNvPr>
          <p:cNvGrpSpPr/>
          <p:nvPr/>
        </p:nvGrpSpPr>
        <p:grpSpPr>
          <a:xfrm>
            <a:off x="106680" y="929323"/>
            <a:ext cx="762000" cy="213360"/>
            <a:chOff x="266700" y="929323"/>
            <a:chExt cx="762000" cy="213360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D07C010-05A4-9F36-E220-A117E9930D3F}"/>
                </a:ext>
              </a:extLst>
            </p:cNvPr>
            <p:cNvSpPr/>
            <p:nvPr/>
          </p:nvSpPr>
          <p:spPr>
            <a:xfrm>
              <a:off x="266700" y="929323"/>
              <a:ext cx="220980" cy="2133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DB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A363831-B9CA-678C-5473-D52F4BD40019}"/>
                </a:ext>
              </a:extLst>
            </p:cNvPr>
            <p:cNvSpPr/>
            <p:nvPr/>
          </p:nvSpPr>
          <p:spPr>
            <a:xfrm>
              <a:off x="537210" y="929323"/>
              <a:ext cx="220980" cy="2133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DB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BF11DF8-D30B-C9C5-B730-A0F92AEC2609}"/>
                </a:ext>
              </a:extLst>
            </p:cNvPr>
            <p:cNvSpPr/>
            <p:nvPr/>
          </p:nvSpPr>
          <p:spPr>
            <a:xfrm>
              <a:off x="807720" y="929323"/>
              <a:ext cx="220980" cy="2133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DB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3B08EF3E-E870-4757-9C80-38B54873049A}"/>
              </a:ext>
            </a:extLst>
          </p:cNvPr>
          <p:cNvSpPr/>
          <p:nvPr/>
        </p:nvSpPr>
        <p:spPr>
          <a:xfrm>
            <a:off x="160231" y="566579"/>
            <a:ext cx="662518" cy="12620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</a:rPr>
              <a:t>Extent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9F8D5A3-41C6-1D6F-F76E-21F4D80AB05B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491490" y="692785"/>
            <a:ext cx="0" cy="17351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52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3783</TotalTime>
  <Words>444</Words>
  <Application>Microsoft Office PowerPoint</Application>
  <PresentationFormat>自定义</PresentationFormat>
  <Paragraphs>193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Wade Wilson</dc:creator>
  <cp:lastModifiedBy>Wilson Wade</cp:lastModifiedBy>
  <cp:revision>2357</cp:revision>
  <dcterms:created xsi:type="dcterms:W3CDTF">2022-10-13T13:43:45Z</dcterms:created>
  <dcterms:modified xsi:type="dcterms:W3CDTF">2024-09-13T05:32:30Z</dcterms:modified>
</cp:coreProperties>
</file>